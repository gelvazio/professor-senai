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E5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274320"/>
            <a:ext cx="2560320" cy="256032"/>
          </a:xfrm>
          <a:prstGeom prst="rect">
            <a:avLst/>
          </a:prstGeom>
          <a:solidFill>
            <a:srgbClr val="00E5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7432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RIO DO SUL MAIS TECH · SENAI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713232"/>
            <a:ext cx="548640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Fundamentos da</a:t>
            </a:r>
            <a:endParaRPr lang="en-US" sz="4000" dirty="0"/>
          </a:p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Tecnologia e</a:t>
            </a:r>
            <a:endParaRPr lang="en-US" sz="4000" dirty="0"/>
          </a:p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Programação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411480" y="32004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Iniciação Profissional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309360" y="0"/>
            <a:ext cx="2834640" cy="5143500"/>
          </a:xfrm>
          <a:prstGeom prst="rect">
            <a:avLst/>
          </a:prstGeom>
          <a:solidFill>
            <a:srgbClr val="1565C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75120" y="822960"/>
            <a:ext cx="2103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dirty="0">
                <a:solidFill>
                  <a:srgbClr val="000000"/>
                </a:solidFill>
              </a:rPr>
              <a:t>💻</a:t>
            </a:r>
            <a:endParaRPr lang="en-US" sz="7200" dirty="0"/>
          </a:p>
        </p:txBody>
      </p:sp>
      <p:sp>
        <p:nvSpPr>
          <p:cNvPr id="9" name="Text 7"/>
          <p:cNvSpPr/>
          <p:nvPr/>
        </p:nvSpPr>
        <p:spPr>
          <a:xfrm>
            <a:off x="6675120" y="2286000"/>
            <a:ext cx="2103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dirty="0">
                <a:solidFill>
                  <a:srgbClr val="000000"/>
                </a:solidFill>
              </a:rPr>
              <a:t>⚡</a:t>
            </a:r>
            <a:endParaRPr lang="en-US" sz="6000" dirty="0"/>
          </a:p>
        </p:txBody>
      </p:sp>
      <p:sp>
        <p:nvSpPr>
          <p:cNvPr id="10" name="Text 8"/>
          <p:cNvSpPr/>
          <p:nvPr/>
        </p:nvSpPr>
        <p:spPr>
          <a:xfrm>
            <a:off x="411480" y="4663440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A7D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Prefeitura Municipal de Rio do Sul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3D9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371600"/>
            <a:ext cx="9144000" cy="2377440"/>
          </a:xfrm>
          <a:prstGeom prst="rect">
            <a:avLst/>
          </a:prstGeom>
          <a:solidFill>
            <a:srgbClr val="1565C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9144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🌟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RIO DO SUL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0" y="777240"/>
            <a:ext cx="9144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MAIS TECH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0" y="16002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Formando o futuro digital de Rio do Sul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0" y="22860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SENAI · Prefeitura Municipal de Rio do Sul · Iniciação Profissional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3657600"/>
            <a:ext cx="640080" cy="640080"/>
          </a:xfrm>
          <a:prstGeom prst="ellipse">
            <a:avLst/>
          </a:prstGeom>
          <a:solidFill>
            <a:srgbClr val="00E5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36576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💻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1920240" y="3657600"/>
            <a:ext cx="640080" cy="640080"/>
          </a:xfrm>
          <a:prstGeom prst="ellipse">
            <a:avLst/>
          </a:prstGeom>
          <a:solidFill>
            <a:srgbClr val="00E5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920240" y="36576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📱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3291840" y="3657600"/>
            <a:ext cx="640080" cy="640080"/>
          </a:xfrm>
          <a:prstGeom prst="ellipse">
            <a:avLst/>
          </a:prstGeom>
          <a:solidFill>
            <a:srgbClr val="00E5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91840" y="36576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🌐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4663440" y="3657600"/>
            <a:ext cx="640080" cy="640080"/>
          </a:xfrm>
          <a:prstGeom prst="ellipse">
            <a:avLst/>
          </a:prstGeom>
          <a:solidFill>
            <a:srgbClr val="00E5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63440" y="36576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🔒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6035040" y="3657600"/>
            <a:ext cx="640080" cy="640080"/>
          </a:xfrm>
          <a:prstGeom prst="ellipse">
            <a:avLst/>
          </a:prstGeom>
          <a:solidFill>
            <a:srgbClr val="00E5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35040" y="36576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🤖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7406640" y="3657600"/>
            <a:ext cx="640080" cy="640080"/>
          </a:xfrm>
          <a:prstGeom prst="ellipse">
            <a:avLst/>
          </a:prstGeom>
          <a:solidFill>
            <a:srgbClr val="00E5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406640" y="36576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🎮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A7D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Fundamentos da Tecnologia e Programação · Rio do Sul Mais Tech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B3D9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Identificação da Unidade Curricular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188720"/>
            <a:ext cx="8595360" cy="530352"/>
          </a:xfrm>
          <a:prstGeom prst="rect">
            <a:avLst/>
          </a:prstGeom>
          <a:solidFill>
            <a:srgbClr val="DDEE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188720"/>
            <a:ext cx="457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🏫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1188720"/>
            <a:ext cx="2194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B3D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Programa: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200400" y="1188720"/>
            <a:ext cx="5486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Rio do Sul Mais Tech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4320" y="1810512"/>
            <a:ext cx="8595360" cy="530352"/>
          </a:xfrm>
          <a:prstGeom prst="rect">
            <a:avLst/>
          </a:prstGeom>
          <a:solidFill>
            <a:srgbClr val="EEF5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810512"/>
            <a:ext cx="457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🏢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14400" y="1810512"/>
            <a:ext cx="2194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B3D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Instituição: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200400" y="1810512"/>
            <a:ext cx="5486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SENAI / Prefeitura Municipal de Rio do Sul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74320" y="2432304"/>
            <a:ext cx="8595360" cy="530352"/>
          </a:xfrm>
          <a:prstGeom prst="rect">
            <a:avLst/>
          </a:prstGeom>
          <a:solidFill>
            <a:srgbClr val="DDEE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2432304"/>
            <a:ext cx="457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📚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914400" y="2432304"/>
            <a:ext cx="2194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B3D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Unidade Curricular: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200400" y="2432304"/>
            <a:ext cx="5486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Fundamentos da Tecnologia e Programação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74320" y="3054096"/>
            <a:ext cx="8595360" cy="530352"/>
          </a:xfrm>
          <a:prstGeom prst="rect">
            <a:avLst/>
          </a:prstGeom>
          <a:solidFill>
            <a:srgbClr val="EEF5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054096"/>
            <a:ext cx="457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⏱️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914400" y="3054096"/>
            <a:ext cx="2194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B3D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 Horária: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200400" y="3054096"/>
            <a:ext cx="5486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 horas presenciais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274320" y="3675888"/>
            <a:ext cx="8595360" cy="530352"/>
          </a:xfrm>
          <a:prstGeom prst="rect">
            <a:avLst/>
          </a:prstGeom>
          <a:solidFill>
            <a:srgbClr val="DDEE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3675888"/>
            <a:ext cx="457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🖥️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914400" y="3675888"/>
            <a:ext cx="2194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B3D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Modalidade: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200400" y="3675888"/>
            <a:ext cx="5486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Presencial — LabTEC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274320" y="4297680"/>
            <a:ext cx="8595360" cy="530352"/>
          </a:xfrm>
          <a:prstGeom prst="rect">
            <a:avLst/>
          </a:prstGeom>
          <a:solidFill>
            <a:srgbClr val="EEF5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4297680"/>
            <a:ext cx="457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🎯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914400" y="4297680"/>
            <a:ext cx="2194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B3D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Público-alvo: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200400" y="4297680"/>
            <a:ext cx="5486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Alunos 8° e 9° ano do Ensino Fundamental (12–15 anos)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AE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Rio do Sul Mais Tech · SENAI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29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B3D9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Apresentação do Professor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2377440" cy="2377440"/>
          </a:xfrm>
          <a:prstGeom prst="ellipse">
            <a:avLst/>
          </a:prstGeom>
          <a:solidFill>
            <a:srgbClr val="1565C0"/>
          </a:solidFill>
          <a:ln w="38100">
            <a:solidFill>
              <a:srgbClr val="00E5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143000"/>
            <a:ext cx="23774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dirty="0">
                <a:solidFill>
                  <a:srgbClr val="000000"/>
                </a:solidFill>
              </a:rPr>
              <a:t>👨‍🏫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3200400" y="1188720"/>
            <a:ext cx="1463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Nome: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663440" y="1188720"/>
            <a:ext cx="4114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Professor]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200400" y="1847088"/>
            <a:ext cx="1463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Formação: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663440" y="1847088"/>
            <a:ext cx="4114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[Graduação / Área]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200400" y="2505456"/>
            <a:ext cx="1463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Experiência: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663440" y="2505456"/>
            <a:ext cx="4114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[Anos de experiência e atuação]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200400" y="3163824"/>
            <a:ext cx="1463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Contato: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663440" y="3163824"/>
            <a:ext cx="4114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[E-mail ou canal de comunicação]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74320" y="420624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Bem-vindos ao mundo da tecnologia! 🚀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A7D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Fundamentos da Tecnologia e Programação · Rio do Sul Mais Tech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61A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B3D9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Vamos nos Conhecer! ✈️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91840" y="1143000"/>
            <a:ext cx="2560320" cy="256032"/>
          </a:xfrm>
          <a:prstGeom prst="rect">
            <a:avLst/>
          </a:prstGeom>
          <a:solidFill>
            <a:srgbClr val="00E5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91840" y="114300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DINÂMICA DO AVIÃO DE PAPEL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74320" y="1097280"/>
            <a:ext cx="2743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0" dirty="0">
                <a:solidFill>
                  <a:srgbClr val="000000"/>
                </a:solidFill>
              </a:rPr>
              <a:t>✈️</a:t>
            </a:r>
            <a:endParaRPr lang="en-US" sz="9600" dirty="0"/>
          </a:p>
        </p:txBody>
      </p:sp>
      <p:sp>
        <p:nvSpPr>
          <p:cNvPr id="7" name="Text 5"/>
          <p:cNvSpPr/>
          <p:nvPr/>
        </p:nvSpPr>
        <p:spPr>
          <a:xfrm>
            <a:off x="3200400" y="1508760"/>
            <a:ext cx="5669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1️⃣  Pegue uma folha e dobre um avião de papel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200400" y="2057400"/>
            <a:ext cx="5669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2️⃣  Escreva: nome, idade e o que espera aprender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200400" y="2606040"/>
            <a:ext cx="5669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3️⃣  Escreva também: qual tecnologia você usa no dia a dia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200400" y="3154680"/>
            <a:ext cx="5669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4️⃣  Jogue o avião para um colega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200400" y="3703320"/>
            <a:ext cx="5669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5️⃣  Leia em voz alta o avião que você recebeu!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74320" y="434340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Objetivo: criar um ambiente de confiança e descobrir quem são nossos alunos!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A7D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Rio do Sul Mais Tech · SENAI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B3D9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Plano de Ensino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188720"/>
            <a:ext cx="4114800" cy="1005840"/>
          </a:xfrm>
          <a:prstGeom prst="rect">
            <a:avLst/>
          </a:prstGeom>
          <a:solidFill>
            <a:srgbClr val="D0E8FF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188720"/>
            <a:ext cx="640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📚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32688" y="1188720"/>
            <a:ext cx="3383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Unidade Curricular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Fundamentos da Tecnologia e Programação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32688" y="1261872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B3D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Unidade Curricular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32688" y="1627632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Fundamentos da Tecnologia e Programação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" y="2404872"/>
            <a:ext cx="4114800" cy="1005840"/>
          </a:xfrm>
          <a:prstGeom prst="rect">
            <a:avLst/>
          </a:prstGeom>
          <a:solidFill>
            <a:srgbClr val="D0E8FF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2404872"/>
            <a:ext cx="640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⏱️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932688" y="2404872"/>
            <a:ext cx="3383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 Horária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 horas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32688" y="2478024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B3D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 Horária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32688" y="2843784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 horas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3621024"/>
            <a:ext cx="4114800" cy="1005840"/>
          </a:xfrm>
          <a:prstGeom prst="rect">
            <a:avLst/>
          </a:prstGeom>
          <a:solidFill>
            <a:srgbClr val="D0E8FF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3621024"/>
            <a:ext cx="640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📅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932688" y="3621024"/>
            <a:ext cx="3383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Encontros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[Número de encontros — a definir]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32688" y="3694176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B3D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Encontros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32688" y="4059936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[Número de encontros — a definir]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54880" y="1188720"/>
            <a:ext cx="4114800" cy="1005840"/>
          </a:xfrm>
          <a:prstGeom prst="rect">
            <a:avLst/>
          </a:prstGeom>
          <a:solidFill>
            <a:srgbClr val="D0E8FF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54880" y="1188720"/>
            <a:ext cx="640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🗓️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5413248" y="1188720"/>
            <a:ext cx="3383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Dias / Horários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 definir com a turma]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413248" y="1261872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B3D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Dias / Horários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413248" y="1627632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 definir com a turma]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754880" y="2404872"/>
            <a:ext cx="4114800" cy="1005840"/>
          </a:xfrm>
          <a:prstGeom prst="rect">
            <a:avLst/>
          </a:prstGeom>
          <a:solidFill>
            <a:srgbClr val="D0E8FF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54880" y="2404872"/>
            <a:ext cx="640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🏫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5413248" y="2404872"/>
            <a:ext cx="3383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LabTEC — Laboratório de Tecnologia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413248" y="2478024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B3D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413248" y="2843784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LabTEC — Laboratório de Tecnologia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754880" y="3621024"/>
            <a:ext cx="4114800" cy="1005840"/>
          </a:xfrm>
          <a:prstGeom prst="rect">
            <a:avLst/>
          </a:prstGeom>
          <a:solidFill>
            <a:srgbClr val="D0E8FF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54880" y="3621024"/>
            <a:ext cx="640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🎯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5413248" y="3621024"/>
            <a:ext cx="3383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Avaliação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Atividades AVA · Prova · Projeto · Comportamento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413248" y="3694176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B3D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Avaliação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413248" y="4059936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Atividades AVA · Prova · Projeto · Comportamento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AE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Rio do Sul Mais Tech · SENAI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29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B3D9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Capacidades Técnicas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926080" y="1097280"/>
            <a:ext cx="2560320" cy="256032"/>
          </a:xfrm>
          <a:prstGeom prst="rect">
            <a:avLst/>
          </a:prstGeom>
          <a:solidFill>
            <a:srgbClr val="00E5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926080" y="109728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VOCÊ VAI APRENDER A FAZER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74320" y="1508760"/>
            <a:ext cx="347472" cy="347472"/>
          </a:xfrm>
          <a:prstGeom prst="ellipse">
            <a:avLst/>
          </a:prstGeom>
          <a:solidFill>
            <a:srgbClr val="00E5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50876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🖥️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49808" y="146304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Entender como funcionam computadores, sistemas operacionais, redes e dispositivos digitais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4320" y="2002536"/>
            <a:ext cx="347472" cy="347472"/>
          </a:xfrm>
          <a:prstGeom prst="ellipse">
            <a:avLst/>
          </a:prstGeom>
          <a:solidFill>
            <a:srgbClr val="00E5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200253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📱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49808" y="1956816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Compreender como os diferentes dispositivos interagem, de computadores a celulares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" y="2496312"/>
            <a:ext cx="347472" cy="347472"/>
          </a:xfrm>
          <a:prstGeom prst="ellipse">
            <a:avLst/>
          </a:prstGeom>
          <a:solidFill>
            <a:srgbClr val="00E5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249631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🧩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49808" y="2450592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Desenvolver o pensamento lógico, sequencial e estruturado para resolver problemas com código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74320" y="2990088"/>
            <a:ext cx="347472" cy="347472"/>
          </a:xfrm>
          <a:prstGeom prst="ellipse">
            <a:avLst/>
          </a:prstGeom>
          <a:solidFill>
            <a:srgbClr val="00E5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299008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📋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49808" y="2944368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Aprender a criar e entender algoritmos simples (sequência de instruções para um objetivo)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74320" y="3483864"/>
            <a:ext cx="347472" cy="347472"/>
          </a:xfrm>
          <a:prstGeom prst="ellipse">
            <a:avLst/>
          </a:prstGeom>
          <a:solidFill>
            <a:srgbClr val="00E5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348386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↔️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49808" y="3438144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Interagir com usuários ou sistemas usando entrada e saída de dados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74320" y="3977640"/>
            <a:ext cx="347472" cy="347472"/>
          </a:xfrm>
          <a:prstGeom prst="ellipse">
            <a:avLst/>
          </a:prstGeom>
          <a:solidFill>
            <a:srgbClr val="00E5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397764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💡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49808" y="393192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Pensar criativamente para solucionar problemas de forma inovadora com tecnologia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274320" y="4471416"/>
            <a:ext cx="347472" cy="347472"/>
          </a:xfrm>
          <a:prstGeom prst="ellipse">
            <a:avLst/>
          </a:prstGeom>
          <a:solidFill>
            <a:srgbClr val="00E5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4320" y="447141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🔒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49808" y="4425696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Refletir sobre as implicações éticas e sociais das tecnologias (segurança, privacidade)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A7D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Fundamentos da Tecnologia e Programação · Rio do Sul Mais Tech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6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565C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Capacidades Socioemocionais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0" y="1097280"/>
            <a:ext cx="2560320" cy="256032"/>
          </a:xfrm>
          <a:prstGeom prst="rect">
            <a:avLst/>
          </a:prstGeom>
          <a:solidFill>
            <a:srgbClr val="00E5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0" y="109728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HABILIDADES PARA A VIDA E O TRABALHO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28600" y="1463040"/>
            <a:ext cx="2788920" cy="1298448"/>
          </a:xfrm>
          <a:prstGeom prst="rect">
            <a:avLst/>
          </a:prstGeom>
          <a:solidFill>
            <a:srgbClr val="0F3460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38328" y="1572768"/>
            <a:ext cx="502920" cy="502920"/>
          </a:xfrm>
          <a:prstGeom prst="ellipse">
            <a:avLst/>
          </a:prstGeom>
          <a:solidFill>
            <a:srgbClr val="00E5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8328" y="157276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🤝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60120" y="155448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Colaboração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38328" y="210312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Trabalhar em equipe em projetos e desafios práticos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0" y="1463040"/>
            <a:ext cx="2788920" cy="1298448"/>
          </a:xfrm>
          <a:prstGeom prst="rect">
            <a:avLst/>
          </a:prstGeom>
          <a:solidFill>
            <a:srgbClr val="0F3460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10128" y="1572768"/>
            <a:ext cx="502920" cy="502920"/>
          </a:xfrm>
          <a:prstGeom prst="ellipse">
            <a:avLst/>
          </a:prstGeom>
          <a:solidFill>
            <a:srgbClr val="00E5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10128" y="157276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🗣️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931920" y="155448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Comunicação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310128" y="210312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Expressar ideias técnicas de forma clara e objetiva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172200" y="1463040"/>
            <a:ext cx="2788920" cy="1298448"/>
          </a:xfrm>
          <a:prstGeom prst="rect">
            <a:avLst/>
          </a:prstGeom>
          <a:solidFill>
            <a:srgbClr val="0F3460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81928" y="1572768"/>
            <a:ext cx="502920" cy="502920"/>
          </a:xfrm>
          <a:prstGeom prst="ellipse">
            <a:avLst/>
          </a:prstGeom>
          <a:solidFill>
            <a:srgbClr val="00E5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81928" y="157276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🎯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903720" y="155448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Responsabilidade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281928" y="210312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Cumprir prazos, entregas e compromissos com a turma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28600" y="2926080"/>
            <a:ext cx="2788920" cy="1298448"/>
          </a:xfrm>
          <a:prstGeom prst="rect">
            <a:avLst/>
          </a:prstGeom>
          <a:solidFill>
            <a:srgbClr val="0F3460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38328" y="3035808"/>
            <a:ext cx="502920" cy="502920"/>
          </a:xfrm>
          <a:prstGeom prst="ellipse">
            <a:avLst/>
          </a:prstGeom>
          <a:solidFill>
            <a:srgbClr val="00E5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8328" y="303580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🔍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960120" y="301752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Pensamento Crítico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38328" y="356616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Analisar problemas e propor soluções fundamentadas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200400" y="2926080"/>
            <a:ext cx="2788920" cy="1298448"/>
          </a:xfrm>
          <a:prstGeom prst="rect">
            <a:avLst/>
          </a:prstGeom>
          <a:solidFill>
            <a:srgbClr val="0F3460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310128" y="3035808"/>
            <a:ext cx="502920" cy="502920"/>
          </a:xfrm>
          <a:prstGeom prst="ellipse">
            <a:avLst/>
          </a:prstGeom>
          <a:solidFill>
            <a:srgbClr val="00E5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310128" y="303580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💪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3931920" y="301752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Resiliência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3310128" y="356616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Persistir diante dos desafios e erros de programação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172200" y="2926080"/>
            <a:ext cx="2788920" cy="1298448"/>
          </a:xfrm>
          <a:prstGeom prst="rect">
            <a:avLst/>
          </a:prstGeom>
          <a:solidFill>
            <a:srgbClr val="0F3460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281928" y="3035808"/>
            <a:ext cx="502920" cy="502920"/>
          </a:xfrm>
          <a:prstGeom prst="ellipse">
            <a:avLst/>
          </a:prstGeom>
          <a:solidFill>
            <a:srgbClr val="00E5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281928" y="303580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🌐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6903720" y="301752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Cidadania Digital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281928" y="356616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Usar a tecnologia de forma ética e consciente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A7D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Rio do Sul Mais Tech · SENAI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B3D9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1 — Tecnologia e Mundo Digital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143000"/>
            <a:ext cx="4114800" cy="1600200"/>
          </a:xfrm>
          <a:prstGeom prst="rect">
            <a:avLst/>
          </a:prstGeom>
          <a:solidFill>
            <a:srgbClr val="D0E8FF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1280160"/>
            <a:ext cx="548640" cy="548640"/>
          </a:xfrm>
          <a:prstGeom prst="ellipse">
            <a:avLst/>
          </a:prstGeom>
          <a:solidFill>
            <a:srgbClr val="0B3D9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2801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💡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78992" y="1252728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B3D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é tecnologia?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11480" y="1691640"/>
            <a:ext cx="3886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Evolução histórica dos computadores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Dispositivos digitais no cotidiano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a tecnologia importa?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4320" y="2926080"/>
            <a:ext cx="4114800" cy="1600200"/>
          </a:xfrm>
          <a:prstGeom prst="rect">
            <a:avLst/>
          </a:prstGeom>
          <a:solidFill>
            <a:srgbClr val="D0E8FF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11480" y="3063240"/>
            <a:ext cx="548640" cy="548640"/>
          </a:xfrm>
          <a:prstGeom prst="ellipse">
            <a:avLst/>
          </a:prstGeom>
          <a:solidFill>
            <a:srgbClr val="0B3D9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30632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📡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078992" y="3035808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B3D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Dispositivos Digitais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11480" y="3474720"/>
            <a:ext cx="3886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Computadores, smartphones, tablets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— Internet das Coisas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Diferentes tipos e usos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754880" y="1143000"/>
            <a:ext cx="4114800" cy="3566160"/>
          </a:xfrm>
          <a:prstGeom prst="rect">
            <a:avLst/>
          </a:prstGeom>
          <a:solidFill>
            <a:srgbClr val="0D2952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0" y="1143000"/>
            <a:ext cx="4114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dirty="0">
                <a:solidFill>
                  <a:srgbClr val="000000"/>
                </a:solidFill>
              </a:rPr>
              <a:t>🌐</a:t>
            </a:r>
            <a:endParaRPr lang="en-US" sz="6000" dirty="0"/>
          </a:p>
        </p:txBody>
      </p:sp>
      <p:sp>
        <p:nvSpPr>
          <p:cNvPr id="16" name="Text 14"/>
          <p:cNvSpPr/>
          <p:nvPr/>
        </p:nvSpPr>
        <p:spPr>
          <a:xfrm>
            <a:off x="4846320" y="2148840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Cidadania Digital e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Segurança na Internet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892040" y="2834640"/>
            <a:ext cx="3886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Fake news — como identificar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892040" y="3273552"/>
            <a:ext cx="3886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🛡️ Cyberbullying — como agir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92040" y="3712464"/>
            <a:ext cx="3886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👣 Pegadas digitais — rastros online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892040" y="4151376"/>
            <a:ext cx="3886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🔏 Privacidade e responsabilidade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AE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Rio do Sul Mais Tech · SENAI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29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B3D9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Blocos 2 e 3 — Hardware, Software e Produtividade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28600" y="1188720"/>
            <a:ext cx="2743200" cy="3566160"/>
          </a:xfrm>
          <a:prstGeom prst="rect">
            <a:avLst/>
          </a:prstGeom>
          <a:solidFill>
            <a:srgbClr val="0F3460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80160" y="1325880"/>
            <a:ext cx="640080" cy="640080"/>
          </a:xfrm>
          <a:prstGeom prst="ellipse">
            <a:avLst/>
          </a:prstGeom>
          <a:solidFill>
            <a:srgbClr val="00E5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80160" y="13258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🖥️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20040" y="205740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vs. Software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2651760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Componentes físicos: CPU, RAM, HD/SSD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65760" y="3291840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Software: SO, aplicativos, utilitários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365760" y="3931920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Windows, Linux, ChromeOS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154680" y="1188720"/>
            <a:ext cx="2743200" cy="3566160"/>
          </a:xfrm>
          <a:prstGeom prst="rect">
            <a:avLst/>
          </a:prstGeom>
          <a:solidFill>
            <a:srgbClr val="0F3460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206240" y="1325880"/>
            <a:ext cx="640080" cy="640080"/>
          </a:xfrm>
          <a:prstGeom prst="ellipse">
            <a:avLst/>
          </a:prstGeom>
          <a:solidFill>
            <a:srgbClr val="00E5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06240" y="13258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🗂️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246120" y="205740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Operacional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291840" y="2651760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Área de trabalho, janelas e menus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3291840" y="3291840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Criar, copiar, mover e renomear arquivos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3291840" y="3931920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Atalhos: Ctrl+C, Ctrl+V, Ctrl+Z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080760" y="1188720"/>
            <a:ext cx="2743200" cy="3566160"/>
          </a:xfrm>
          <a:prstGeom prst="rect">
            <a:avLst/>
          </a:prstGeom>
          <a:solidFill>
            <a:srgbClr val="0F3460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132320" y="1325880"/>
            <a:ext cx="640080" cy="640080"/>
          </a:xfrm>
          <a:prstGeom prst="ellipse">
            <a:avLst/>
          </a:prstGeom>
          <a:solidFill>
            <a:srgbClr val="00E5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132320" y="13258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📄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172200" y="205740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Ferramentas de Produtividade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217920" y="2651760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Google Docs / LibreOffice Writer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217920" y="3291840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Google Slides / PowerPoint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217920" y="3931920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Google Sheets / Excel básico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A7D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Rio do Sul Mais Tech · SENAI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6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565C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Blocos 5 e 6 — Pensamento Computacional e Scratch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228600" y="1143000"/>
            <a:ext cx="4160520" cy="3657600"/>
          </a:xfrm>
          <a:prstGeom prst="rect">
            <a:avLst/>
          </a:prstGeom>
          <a:solidFill>
            <a:srgbClr val="0F3460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234440"/>
            <a:ext cx="3977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Pensamento Computacional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1801368"/>
            <a:ext cx="39319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Decomposição de problemas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347472" y="2221992"/>
            <a:ext cx="39319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Reconhecimento de padrões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347472" y="2642616"/>
            <a:ext cx="39319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🔷 Abstração — foco no essencial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47472" y="3063240"/>
            <a:ext cx="39319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Algoritmos: entrada → processo → saída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347472" y="3483864"/>
            <a:ext cx="39319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↩️  Sequência, decisão, repetição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347472" y="3904488"/>
            <a:ext cx="39319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📐 Fluxogramas simples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347472" y="4325112"/>
            <a:ext cx="39319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🃏 Atividades desplugadas em grupo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709160" y="1143000"/>
            <a:ext cx="4160520" cy="3657600"/>
          </a:xfrm>
          <a:prstGeom prst="rect">
            <a:avLst/>
          </a:prstGeom>
          <a:solidFill>
            <a:srgbClr val="0F3460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00600" y="1234440"/>
            <a:ext cx="3977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🎮 Programação em Blocos — Scratch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00600" y="1801368"/>
            <a:ext cx="39319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🎨 Interface do Scratch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800600" y="2221992"/>
            <a:ext cx="39319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🏃 Movimentos, aparência e sons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800600" y="2642616"/>
            <a:ext cx="39319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Eventos e triggers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800600" y="3063240"/>
            <a:ext cx="39319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🔀 Condições (se/então)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800600" y="3483864"/>
            <a:ext cx="39319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🔁 Repetições (loops)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800600" y="3904488"/>
            <a:ext cx="39319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Variáveis: pontuação e tempo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800600" y="4325112"/>
            <a:ext cx="39319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🌟 Animações, jogos e histórias interativas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A7D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Rio do Sul Mais Tech · SENAI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B3D9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Nossos Combinados 🤝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28600" y="1143000"/>
            <a:ext cx="2788920" cy="1508760"/>
          </a:xfrm>
          <a:prstGeom prst="rect">
            <a:avLst/>
          </a:prstGeom>
          <a:solidFill>
            <a:srgbClr val="D0E8FF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38328" y="1280160"/>
            <a:ext cx="548640" cy="548640"/>
          </a:xfrm>
          <a:prstGeom prst="ellipse">
            <a:avLst/>
          </a:prstGeom>
          <a:solidFill>
            <a:srgbClr val="0B3D9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38328" y="12801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👕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05840" y="128016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B3D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Uniforme obrigatório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38328" y="1892808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sempre o uniforme do programa nas aulas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200400" y="1143000"/>
            <a:ext cx="2788920" cy="1508760"/>
          </a:xfrm>
          <a:prstGeom prst="rect">
            <a:avLst/>
          </a:prstGeom>
          <a:solidFill>
            <a:srgbClr val="D0E8FF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310128" y="1280160"/>
            <a:ext cx="548640" cy="548640"/>
          </a:xfrm>
          <a:prstGeom prst="ellipse">
            <a:avLst/>
          </a:prstGeom>
          <a:solidFill>
            <a:srgbClr val="0B3D9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10128" y="12801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📵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977640" y="128016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B3D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Celular apenas no intervalo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310128" y="1892808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Guarde o celular durante as atividades em sala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172200" y="1143000"/>
            <a:ext cx="2788920" cy="1508760"/>
          </a:xfrm>
          <a:prstGeom prst="rect">
            <a:avLst/>
          </a:prstGeom>
          <a:solidFill>
            <a:srgbClr val="D0E8FF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81928" y="1280160"/>
            <a:ext cx="548640" cy="548640"/>
          </a:xfrm>
          <a:prstGeom prst="ellipse">
            <a:avLst/>
          </a:prstGeom>
          <a:solidFill>
            <a:srgbClr val="0B3D9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81928" y="12801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🧢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949440" y="128016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B3D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bonés em sala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281928" y="1892808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Retire o boné ao entrar no laboratório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228600" y="2834640"/>
            <a:ext cx="2788920" cy="1508760"/>
          </a:xfrm>
          <a:prstGeom prst="rect">
            <a:avLst/>
          </a:prstGeom>
          <a:solidFill>
            <a:srgbClr val="D0E8FF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38328" y="2971800"/>
            <a:ext cx="548640" cy="548640"/>
          </a:xfrm>
          <a:prstGeom prst="ellipse">
            <a:avLst/>
          </a:prstGeom>
          <a:solidFill>
            <a:srgbClr val="0B3D9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8328" y="29718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🎧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005840" y="297180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B3D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fones de ouvido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38328" y="3584448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Preste atenção nas explicações — ouça a turma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3200400" y="2834640"/>
            <a:ext cx="2788920" cy="1508760"/>
          </a:xfrm>
          <a:prstGeom prst="rect">
            <a:avLst/>
          </a:prstGeom>
          <a:solidFill>
            <a:srgbClr val="D0E8FF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310128" y="2971800"/>
            <a:ext cx="548640" cy="548640"/>
          </a:xfrm>
          <a:prstGeom prst="ellipse">
            <a:avLst/>
          </a:prstGeom>
          <a:solidFill>
            <a:srgbClr val="0B3D9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10128" y="29718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🚶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3977640" y="297180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B3D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Evite saídas desnecessárias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310128" y="3584448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Resolva necessidades antes da aula começar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172200" y="2834640"/>
            <a:ext cx="2788920" cy="1508760"/>
          </a:xfrm>
          <a:prstGeom prst="rect">
            <a:avLst/>
          </a:prstGeom>
          <a:solidFill>
            <a:srgbClr val="D0E8FF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281928" y="2971800"/>
            <a:ext cx="548640" cy="548640"/>
          </a:xfrm>
          <a:prstGeom prst="ellipse">
            <a:avLst/>
          </a:prstGeom>
          <a:solidFill>
            <a:srgbClr val="0B3D9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81928" y="29718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💻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6949440" y="297180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B3D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Cuide do equipamento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281928" y="3584448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os computadores com responsabilidade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AE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Rio do Sul Mais Tech · SENAI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29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B3D9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Avaliação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28600" y="1143000"/>
            <a:ext cx="502920" cy="749808"/>
          </a:xfrm>
          <a:prstGeom prst="rect">
            <a:avLst/>
          </a:prstGeom>
          <a:solidFill>
            <a:srgbClr val="00E5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1143000"/>
            <a:ext cx="502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N1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49808" y="1143000"/>
            <a:ext cx="8138160" cy="749808"/>
          </a:xfrm>
          <a:prstGeom prst="rect">
            <a:avLst/>
          </a:prstGeom>
          <a:solidFill>
            <a:srgbClr val="0F346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188720"/>
            <a:ext cx="7909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💻  Atividades AVA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1545336"/>
            <a:ext cx="7909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Atividades realizadas na plataforma de ensino (AVA)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28600" y="2039112"/>
            <a:ext cx="502920" cy="749808"/>
          </a:xfrm>
          <a:prstGeom prst="rect">
            <a:avLst/>
          </a:prstGeom>
          <a:solidFill>
            <a:srgbClr val="00E5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8600" y="2039112"/>
            <a:ext cx="502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N2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49808" y="2039112"/>
            <a:ext cx="8138160" cy="749808"/>
          </a:xfrm>
          <a:prstGeom prst="rect">
            <a:avLst/>
          </a:prstGeom>
          <a:solidFill>
            <a:srgbClr val="0F346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2084832"/>
            <a:ext cx="7909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 Prova Objetiva + Prática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68680" y="2441448"/>
            <a:ext cx="7909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Prova de múltipla escolha e avaliação prática no computador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228600" y="2935224"/>
            <a:ext cx="502920" cy="749808"/>
          </a:xfrm>
          <a:prstGeom prst="rect">
            <a:avLst/>
          </a:prstGeom>
          <a:solidFill>
            <a:srgbClr val="00E5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28600" y="2935224"/>
            <a:ext cx="502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N3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49808" y="2935224"/>
            <a:ext cx="8138160" cy="749808"/>
          </a:xfrm>
          <a:prstGeom prst="rect">
            <a:avLst/>
          </a:prstGeom>
          <a:solidFill>
            <a:srgbClr val="0F346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" y="2980944"/>
            <a:ext cx="7909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Situação de Aprendizagem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68680" y="3337560"/>
            <a:ext cx="7909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integrador — produto final da UC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228600" y="3831336"/>
            <a:ext cx="502920" cy="749808"/>
          </a:xfrm>
          <a:prstGeom prst="rect">
            <a:avLst/>
          </a:prstGeom>
          <a:solidFill>
            <a:srgbClr val="00E5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28600" y="3831336"/>
            <a:ext cx="502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N4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49808" y="3831336"/>
            <a:ext cx="8138160" cy="749808"/>
          </a:xfrm>
          <a:prstGeom prst="rect">
            <a:avLst/>
          </a:prstGeom>
          <a:solidFill>
            <a:srgbClr val="0F346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68680" y="3877056"/>
            <a:ext cx="7909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 Comportamento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68680" y="4233672"/>
            <a:ext cx="7909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Pontualidade, participação, respeito, colaboração e responsabilidade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228600" y="4663440"/>
            <a:ext cx="8686800" cy="347472"/>
          </a:xfrm>
          <a:prstGeom prst="rect">
            <a:avLst/>
          </a:prstGeom>
          <a:solidFill>
            <a:srgbClr val="00E5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28600" y="4663440"/>
            <a:ext cx="8686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Aprovação: Frequência ≥ 75% E Média Final ≥ 7,0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6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565C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Avaliação de Comportamento ⭐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2468880" y="1097280"/>
            <a:ext cx="2560320" cy="256032"/>
          </a:xfrm>
          <a:prstGeom prst="rect">
            <a:avLst/>
          </a:prstGeom>
          <a:solidFill>
            <a:srgbClr val="00E5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468880" y="109728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 4 — COMPORTAMENTO E POSTURA PROFISSIONAL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28600" y="1481328"/>
            <a:ext cx="8686800" cy="603504"/>
          </a:xfrm>
          <a:prstGeom prst="rect">
            <a:avLst/>
          </a:prstGeom>
          <a:solidFill>
            <a:srgbClr val="0F346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545336"/>
            <a:ext cx="475488" cy="475488"/>
          </a:xfrm>
          <a:prstGeom prst="ellipse">
            <a:avLst/>
          </a:prstGeom>
          <a:solidFill>
            <a:srgbClr val="00E5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545336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000000"/>
                </a:solidFill>
              </a:rPr>
              <a:t>⏰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914400" y="1572768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Pontualidade: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834640" y="1572768"/>
            <a:ext cx="5989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Chegar no horário às aulas e entregar atividades nos prazos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28600" y="2176272"/>
            <a:ext cx="8686800" cy="603504"/>
          </a:xfrm>
          <a:prstGeom prst="rect">
            <a:avLst/>
          </a:prstGeom>
          <a:solidFill>
            <a:srgbClr val="0F346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0040" y="2240280"/>
            <a:ext cx="475488" cy="475488"/>
          </a:xfrm>
          <a:prstGeom prst="ellipse">
            <a:avLst/>
          </a:prstGeom>
          <a:solidFill>
            <a:srgbClr val="00E5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224028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000000"/>
                </a:solidFill>
              </a:rPr>
              <a:t>🙋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914400" y="2267712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Participação: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834640" y="2267712"/>
            <a:ext cx="5989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Engajar-se ativamente nas discussões, perguntar e colaborar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28600" y="2871216"/>
            <a:ext cx="8686800" cy="603504"/>
          </a:xfrm>
          <a:prstGeom prst="rect">
            <a:avLst/>
          </a:prstGeom>
          <a:solidFill>
            <a:srgbClr val="0F346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0040" y="2935224"/>
            <a:ext cx="475488" cy="475488"/>
          </a:xfrm>
          <a:prstGeom prst="ellipse">
            <a:avLst/>
          </a:prstGeom>
          <a:solidFill>
            <a:srgbClr val="00E5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2935224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000000"/>
                </a:solidFill>
              </a:rPr>
              <a:t>🤝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914400" y="2962656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Respeito: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834640" y="2962656"/>
            <a:ext cx="5989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Tratar colegas e professor com respeito e empatia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28600" y="3566160"/>
            <a:ext cx="8686800" cy="603504"/>
          </a:xfrm>
          <a:prstGeom prst="rect">
            <a:avLst/>
          </a:prstGeom>
          <a:solidFill>
            <a:srgbClr val="0F346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20040" y="3630168"/>
            <a:ext cx="475488" cy="475488"/>
          </a:xfrm>
          <a:prstGeom prst="ellipse">
            <a:avLst/>
          </a:prstGeom>
          <a:solidFill>
            <a:srgbClr val="00E5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0040" y="3630168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000000"/>
                </a:solidFill>
              </a:rPr>
              <a:t>👥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914400" y="3657600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Colaboração: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2834640" y="3657600"/>
            <a:ext cx="5989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Ajudar os colegas e trabalhar bem em equipe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228600" y="4261104"/>
            <a:ext cx="8686800" cy="603504"/>
          </a:xfrm>
          <a:prstGeom prst="rect">
            <a:avLst/>
          </a:prstGeom>
          <a:solidFill>
            <a:srgbClr val="0F346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20040" y="4325112"/>
            <a:ext cx="475488" cy="475488"/>
          </a:xfrm>
          <a:prstGeom prst="ellipse">
            <a:avLst/>
          </a:prstGeom>
          <a:solidFill>
            <a:srgbClr val="00E5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0040" y="432511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000000"/>
                </a:solidFill>
              </a:rPr>
              <a:t>📌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914400" y="4352544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Responsabilidade: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2834640" y="4352544"/>
            <a:ext cx="5989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Cuidar do material, seguir os combinados e cumprir tarefas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A7D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Rio do Sul Mais Tech · SENAI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71A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B3D9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Situação de Aprendizagem 🎯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108960" y="1097280"/>
            <a:ext cx="2560320" cy="256032"/>
          </a:xfrm>
          <a:prstGeom prst="rect">
            <a:avLst/>
          </a:prstGeom>
          <a:solidFill>
            <a:srgbClr val="00E5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108960" y="109728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INTEGRADOR — NOTA 3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65760" y="141732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i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"Como a tecnologia mudou o mundo"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65760" y="201168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Criar uma apresentação digital sobre o impacto da tecnologia na sociedade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28600" y="2606040"/>
            <a:ext cx="2011680" cy="2240280"/>
          </a:xfrm>
          <a:prstGeom prst="rect">
            <a:avLst/>
          </a:prstGeom>
          <a:solidFill>
            <a:srgbClr val="0F3460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4400" y="2724912"/>
            <a:ext cx="640080" cy="640080"/>
          </a:xfrm>
          <a:prstGeom prst="ellipse">
            <a:avLst/>
          </a:prstGeom>
          <a:solidFill>
            <a:srgbClr val="00E5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272491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🔍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20040" y="342900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Pesquisa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20040" y="3886200"/>
            <a:ext cx="18288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Escolher um tema tecnológico para investigar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23160" y="2606040"/>
            <a:ext cx="2011680" cy="2240280"/>
          </a:xfrm>
          <a:prstGeom prst="rect">
            <a:avLst/>
          </a:prstGeom>
          <a:solidFill>
            <a:srgbClr val="0F3460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108960" y="2724912"/>
            <a:ext cx="640080" cy="640080"/>
          </a:xfrm>
          <a:prstGeom prst="ellipse">
            <a:avLst/>
          </a:prstGeom>
          <a:solidFill>
            <a:srgbClr val="00E5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108960" y="272491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📋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2514600" y="342900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Planejamento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514600" y="3886200"/>
            <a:ext cx="18288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Organizar os tópicos e definir a estrutura da apresentação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617720" y="2606040"/>
            <a:ext cx="2011680" cy="2240280"/>
          </a:xfrm>
          <a:prstGeom prst="rect">
            <a:avLst/>
          </a:prstGeom>
          <a:solidFill>
            <a:srgbClr val="0F3460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303520" y="2724912"/>
            <a:ext cx="640080" cy="640080"/>
          </a:xfrm>
          <a:prstGeom prst="ellipse">
            <a:avLst/>
          </a:prstGeom>
          <a:solidFill>
            <a:srgbClr val="00E5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03520" y="272491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🎨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4709160" y="342900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Criação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709160" y="3886200"/>
            <a:ext cx="18288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Criar slides com Google Slides ou PowerPoint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812280" y="2606040"/>
            <a:ext cx="2011680" cy="2240280"/>
          </a:xfrm>
          <a:prstGeom prst="rect">
            <a:avLst/>
          </a:prstGeom>
          <a:solidFill>
            <a:srgbClr val="0F3460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498080" y="2724912"/>
            <a:ext cx="640080" cy="640080"/>
          </a:xfrm>
          <a:prstGeom prst="ellipse">
            <a:avLst/>
          </a:prstGeom>
          <a:solidFill>
            <a:srgbClr val="00E5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498080" y="272491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🎤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6903720" y="342900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Apresentação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903720" y="3886200"/>
            <a:ext cx="18288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Apresentar o projeto para a turma com confiança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A7D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Rio do Sul Mais Tech · SENAI — Fundamentos da Tecnologia e Programação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0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B3D9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4 — Internet e Uso Seguro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228600" y="1143000"/>
            <a:ext cx="2788920" cy="1600200"/>
          </a:xfrm>
          <a:prstGeom prst="rect">
            <a:avLst/>
          </a:prstGeom>
          <a:solidFill>
            <a:srgbClr val="D0E8FF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07592" y="1252728"/>
            <a:ext cx="594360" cy="594360"/>
          </a:xfrm>
          <a:prstGeom prst="ellipse">
            <a:avLst/>
          </a:prstGeom>
          <a:solidFill>
            <a:srgbClr val="0B3D9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07592" y="1252728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🌍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20040" y="1920240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3D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Navegadores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20040" y="2258568"/>
            <a:ext cx="260604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Chrome, Firefox, Edge — como funciona e boas práticas de pesquisa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0" y="1143000"/>
            <a:ext cx="2788920" cy="1600200"/>
          </a:xfrm>
          <a:prstGeom prst="rect">
            <a:avLst/>
          </a:prstGeom>
          <a:solidFill>
            <a:srgbClr val="D0E8FF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279392" y="1252728"/>
            <a:ext cx="594360" cy="594360"/>
          </a:xfrm>
          <a:prstGeom prst="ellipse">
            <a:avLst/>
          </a:prstGeom>
          <a:solidFill>
            <a:srgbClr val="0B3D9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79392" y="1252728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🔐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291840" y="1920240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3D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Senhas Seguras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291840" y="2258568"/>
            <a:ext cx="260604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Criar senhas fortes, não reutilizar e usar autenticação em dois fatores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72200" y="1143000"/>
            <a:ext cx="2788920" cy="1600200"/>
          </a:xfrm>
          <a:prstGeom prst="rect">
            <a:avLst/>
          </a:prstGeom>
          <a:solidFill>
            <a:srgbClr val="D0E8FF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251192" y="1252728"/>
            <a:ext cx="594360" cy="594360"/>
          </a:xfrm>
          <a:prstGeom prst="ellipse">
            <a:avLst/>
          </a:prstGeom>
          <a:solidFill>
            <a:srgbClr val="0B3D9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251192" y="1252728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🦠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263640" y="1920240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3D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Vírus e Malware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263640" y="2258568"/>
            <a:ext cx="260604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são, como se proteger e o que fazer se for infectado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28600" y="2926080"/>
            <a:ext cx="2788920" cy="1600200"/>
          </a:xfrm>
          <a:prstGeom prst="rect">
            <a:avLst/>
          </a:prstGeom>
          <a:solidFill>
            <a:srgbClr val="D0E8FF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307592" y="3035808"/>
            <a:ext cx="594360" cy="594360"/>
          </a:xfrm>
          <a:prstGeom prst="ellipse">
            <a:avLst/>
          </a:prstGeom>
          <a:solidFill>
            <a:srgbClr val="0B3D9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307592" y="3035808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🕵️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320040" y="3703320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3D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Privacidade Online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20040" y="4041648"/>
            <a:ext cx="260604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pessoais, cookies, o que compartilhamos sem perceber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200400" y="2926080"/>
            <a:ext cx="2788920" cy="1600200"/>
          </a:xfrm>
          <a:prstGeom prst="rect">
            <a:avLst/>
          </a:prstGeom>
          <a:solidFill>
            <a:srgbClr val="D0E8FF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279392" y="3035808"/>
            <a:ext cx="594360" cy="594360"/>
          </a:xfrm>
          <a:prstGeom prst="ellipse">
            <a:avLst/>
          </a:prstGeom>
          <a:solidFill>
            <a:srgbClr val="0B3D9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279392" y="3035808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📧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3291840" y="3703320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3D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Golpes Digitais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291840" y="4041648"/>
            <a:ext cx="260604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Phishing, spam, engenharia social — como não cair em armadilhas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172200" y="2926080"/>
            <a:ext cx="2788920" cy="1600200"/>
          </a:xfrm>
          <a:prstGeom prst="rect">
            <a:avLst/>
          </a:prstGeom>
          <a:solidFill>
            <a:srgbClr val="D0E8FF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251192" y="3035808"/>
            <a:ext cx="594360" cy="594360"/>
          </a:xfrm>
          <a:prstGeom prst="ellipse">
            <a:avLst/>
          </a:prstGeom>
          <a:solidFill>
            <a:srgbClr val="0B3D9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251192" y="3035808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🔒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6263640" y="3703320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3D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Comportamento Seguro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263640" y="4041648"/>
            <a:ext cx="260604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LGPD básica, direitos digitais e responsabilidade online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AE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Rio do Sul Mais Tech · SENAI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6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E5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979408" y="0"/>
            <a:ext cx="164592" cy="5143500"/>
          </a:xfrm>
          <a:prstGeom prst="rect">
            <a:avLst/>
          </a:prstGeom>
          <a:solidFill>
            <a:srgbClr val="00E5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548640"/>
            <a:ext cx="9144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0" dirty="0">
                <a:solidFill>
                  <a:srgbClr val="000000"/>
                </a:solidFill>
              </a:rPr>
              <a:t>🚀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365760" y="182880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Vamos Começar!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365760" y="265176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jornada no mundo da tecnologia começa hoje.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365760" y="320040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Fundamentos da Tecnologia e Programação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65760" y="365760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7D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Rio do Sul Mais Tech · SENAI · Prefeitura Municipal de Rio do Sul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2026-08-19T17:26:11Z</dcterms:created>
  <dcterms:modified xsi:type="dcterms:W3CDTF">2026-08-19T17:26:11Z</dcterms:modified>
</cp:coreProperties>
</file>