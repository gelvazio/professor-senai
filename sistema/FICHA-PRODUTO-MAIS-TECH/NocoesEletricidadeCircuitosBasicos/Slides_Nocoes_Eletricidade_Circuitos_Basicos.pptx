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15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383280"/>
            <a:ext cx="9144000" cy="228600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0" y="457200"/>
            <a:ext cx="1645920" cy="1645920"/>
          </a:xfrm>
          <a:prstGeom prst="ellipse">
            <a:avLst/>
          </a:prstGeom>
          <a:solidFill>
            <a:srgbClr val="E65100"/>
          </a:solidFill>
          <a:ln w="38100">
            <a:solidFill>
              <a:srgbClr val="FFD6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4572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⚡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8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Noções de Eletricidade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8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Circuitos Básicos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Iniciação Profissional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Prefeitura Municipal de Rio do Sul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7B3F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D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Rio do Sul Mais Tech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Iniciação Profissional em Eletricidade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2560320" cy="2011680"/>
          </a:xfrm>
          <a:prstGeom prst="rect">
            <a:avLst/>
          </a:prstGeom>
          <a:solidFill>
            <a:srgbClr val="2D1500"/>
          </a:solidFill>
          <a:ln/>
          <a:effectLst>
            <a:outerShdw sx="100000" sy="100000" kx="0" ky="0" algn="bl" rotWithShape="0" blurRad="76200" dist="25400" dir="18900000">
              <a:srgbClr val="7B3F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6060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📚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91840" y="2560320"/>
            <a:ext cx="2560320" cy="2011680"/>
          </a:xfrm>
          <a:prstGeom prst="rect">
            <a:avLst/>
          </a:prstGeom>
          <a:solidFill>
            <a:srgbClr val="2D1500"/>
          </a:solidFill>
          <a:ln/>
          <a:effectLst>
            <a:outerShdw sx="100000" sy="100000" kx="0" ky="0" algn="bl" rotWithShape="0" blurRad="76200" dist="25400" dir="18900000">
              <a:srgbClr val="7B3F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26060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🔧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291840" y="3383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Praticar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26480" y="2560320"/>
            <a:ext cx="2560320" cy="2011680"/>
          </a:xfrm>
          <a:prstGeom prst="rect">
            <a:avLst/>
          </a:prstGeom>
          <a:solidFill>
            <a:srgbClr val="2D1500"/>
          </a:solidFill>
          <a:ln/>
          <a:effectLst>
            <a:outerShdw sx="100000" sy="100000" kx="0" ky="0" algn="bl" rotWithShape="0" blurRad="76200" dist="25400" dir="18900000">
              <a:srgbClr val="7B3F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26060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🚀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126480" y="3383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· Prefeitura Municipal de Rio do Sul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B3F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Identificação da UC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475488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430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da UC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17520" y="114300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Noções de Eletricidade e Circuitos Básicos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618488"/>
            <a:ext cx="8595360" cy="475488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6642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17520" y="1664208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— SENAI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139696"/>
            <a:ext cx="8595360" cy="475488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8541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17520" y="2185416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660904"/>
            <a:ext cx="8595360" cy="475488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70662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Horária Total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17520" y="2706624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horas (Presencial)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182112"/>
            <a:ext cx="8595360" cy="475488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22783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17520" y="322783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Eletroeletrônica / Instalações Elétricas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703320"/>
            <a:ext cx="8595360" cy="475488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7490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017520" y="374904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LabTEC — Prefeitura Municipal de Rio do Sul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4224528"/>
            <a:ext cx="8595360" cy="475488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2702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017520" y="4270248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8° e 9° ano do Ensino Fundamental (12–15 anos)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B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Prefeitura Municipal de Rio do Sul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15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Apresentação do Professor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3840480" cy="3566160"/>
          </a:xfrm>
          <a:prstGeom prst="rect">
            <a:avLst/>
          </a:prstGeom>
          <a:solidFill>
            <a:srgbClr val="7B3F00"/>
          </a:solidFill>
          <a:ln/>
          <a:effectLst>
            <a:outerShdw sx="100000" sy="100000" kx="0" ky="0" algn="bl" rotWithShape="0" blurRad="76200" dist="25400" dir="18900000">
              <a:srgbClr val="7B3F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8872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👨‍🏫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36576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Professor(a)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Professor]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3520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B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Área: Eletroeletrônica / SENAI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097280"/>
            <a:ext cx="4480560" cy="3566160"/>
          </a:xfrm>
          <a:prstGeom prst="rect">
            <a:avLst/>
          </a:prstGeom>
          <a:solidFill>
            <a:srgbClr val="7B3F00"/>
          </a:solidFill>
          <a:ln/>
          <a:effectLst>
            <a:outerShdw sx="100000" sy="100000" kx="0" ky="0" algn="bl" rotWithShape="0" blurRad="76200" dist="25400" dir="18900000">
              <a:srgbClr val="7B3F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2344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Formação acadêmica: [Preencher]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18745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Experiência profissional: [Preencher]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25146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Contato: [e-mail ou telefone]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31546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 Horário de atendimento: [horário]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37947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Sala / Local: LabTEC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B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7B3F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✈️  Dinâmica: Avião de Papel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297680" cy="1051560"/>
          </a:xfrm>
          <a:prstGeom prst="rect">
            <a:avLst/>
          </a:prstGeom>
          <a:solidFill>
            <a:srgbClr val="2D1500"/>
          </a:solidFill>
          <a:ln/>
          <a:effectLst>
            <a:outerShdw sx="100000" sy="100000" kx="0" ky="0" algn="bl" rotWithShape="0" blurRad="76200" dist="25400" dir="18900000">
              <a:srgbClr val="7B3F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731520" cy="731520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80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188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Pegue um papel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1527048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aluno recebe uma folha em branco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331720"/>
            <a:ext cx="4297680" cy="1051560"/>
          </a:xfrm>
          <a:prstGeom prst="rect">
            <a:avLst/>
          </a:prstGeom>
          <a:solidFill>
            <a:srgbClr val="2D1500"/>
          </a:solidFill>
          <a:ln/>
          <a:effectLst>
            <a:outerShdw sx="100000" sy="100000" kx="0" ky="0" algn="bl" rotWithShape="0" blurRad="76200" dist="25400" dir="18900000">
              <a:srgbClr val="7B3F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468880"/>
            <a:ext cx="731520" cy="731520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2715768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Nome, escola, o que espera da UC e um dado curioso sobre eletricidade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520440"/>
            <a:ext cx="4297680" cy="1051560"/>
          </a:xfrm>
          <a:prstGeom prst="rect">
            <a:avLst/>
          </a:prstGeom>
          <a:solidFill>
            <a:srgbClr val="2D1500"/>
          </a:solidFill>
          <a:ln/>
          <a:effectLst>
            <a:outerShdw sx="100000" sy="100000" kx="0" ky="0" algn="bl" rotWithShape="0" blurRad="76200" dist="25400" dir="18900000">
              <a:srgbClr val="7B3F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657600"/>
            <a:ext cx="731520" cy="731520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657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3566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Dobre o avião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3904488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 o papel em um avião de papel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1143000"/>
            <a:ext cx="4297680" cy="1051560"/>
          </a:xfrm>
          <a:prstGeom prst="rect">
            <a:avLst/>
          </a:prstGeom>
          <a:solidFill>
            <a:srgbClr val="2D1500"/>
          </a:solidFill>
          <a:ln/>
          <a:effectLst>
            <a:outerShdw sx="100000" sy="100000" kx="0" ky="0" algn="bl" rotWithShape="0" blurRad="76200" dist="25400" dir="18900000">
              <a:srgbClr val="7B3F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0" y="1280160"/>
            <a:ext cx="731520" cy="731520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1280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806440" y="1188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Lance!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806440" y="1527048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sinal do professor, todos lançam ao mesmo tempo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2331720"/>
            <a:ext cx="4297680" cy="1051560"/>
          </a:xfrm>
          <a:prstGeom prst="rect">
            <a:avLst/>
          </a:prstGeom>
          <a:solidFill>
            <a:srgbClr val="2D1500"/>
          </a:solidFill>
          <a:ln/>
          <a:effectLst>
            <a:outerShdw sx="100000" sy="100000" kx="0" ky="0" algn="bl" rotWithShape="0" blurRad="76200" dist="25400" dir="18900000">
              <a:srgbClr val="7B3F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37760" y="2468880"/>
            <a:ext cx="731520" cy="731520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80644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806440" y="2715768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aluno lê o papel que pegou para a turma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B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Prefeitura Municipal de Rio do Sul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B3F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Plano de Ensino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286000" cy="53035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4300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1097280"/>
            <a:ext cx="6309360" cy="530352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8" name="Text 6"/>
          <p:cNvSpPr/>
          <p:nvPr/>
        </p:nvSpPr>
        <p:spPr>
          <a:xfrm>
            <a:off x="2651760" y="1143000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Noções de Eletricidade e Circuitos Básicos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691640"/>
            <a:ext cx="2286000" cy="53035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73736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Horária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0" y="1691640"/>
            <a:ext cx="6309360" cy="530352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1737360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horas presenciais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286000"/>
            <a:ext cx="2286000" cy="53035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233172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de Encontros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60320" y="2286000"/>
            <a:ext cx="6309360" cy="530352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16" name="Text 14"/>
          <p:cNvSpPr/>
          <p:nvPr/>
        </p:nvSpPr>
        <p:spPr>
          <a:xfrm>
            <a:off x="2651760" y="2331720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definir conforme calendário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880360"/>
            <a:ext cx="2286000" cy="53035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292608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/ Horários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60320" y="2880360"/>
            <a:ext cx="6309360" cy="530352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20" name="Text 18"/>
          <p:cNvSpPr/>
          <p:nvPr/>
        </p:nvSpPr>
        <p:spPr>
          <a:xfrm>
            <a:off x="2651760" y="2926080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definir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474720"/>
            <a:ext cx="2286000" cy="53035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352044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60320" y="3474720"/>
            <a:ext cx="6309360" cy="530352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24" name="Text 22"/>
          <p:cNvSpPr/>
          <p:nvPr/>
        </p:nvSpPr>
        <p:spPr>
          <a:xfrm>
            <a:off x="2651760" y="3520440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LabTEC — Prefeitura Municipal de Rio do Sul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4069080"/>
            <a:ext cx="2286000" cy="53035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411480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560320" y="4069080"/>
            <a:ext cx="6309360" cy="530352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28" name="Text 26"/>
          <p:cNvSpPr/>
          <p:nvPr/>
        </p:nvSpPr>
        <p:spPr>
          <a:xfrm>
            <a:off x="2651760" y="4114800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Multímetro, protoboard, fios, componentes, simulador Tinkercad/Falstad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B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Prefeitura Municipal de Rio do Sul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15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Capacidades Técnicas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297680" cy="868680"/>
          </a:xfrm>
          <a:prstGeom prst="rect">
            <a:avLst/>
          </a:prstGeom>
          <a:solidFill>
            <a:srgbClr val="7B3F00"/>
          </a:solidFill>
          <a:ln/>
          <a:effectLst>
            <a:outerShdw sx="100000" sy="100000" kx="0" ky="0" algn="bl" rotWithShape="0" blurRad="76200" dist="25400" dir="18900000">
              <a:srgbClr val="7B3F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07008"/>
            <a:ext cx="594360" cy="594360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0700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170432"/>
            <a:ext cx="3429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normas técnicas e segurança no trabalho em atividades com eletricidade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057400"/>
            <a:ext cx="4297680" cy="868680"/>
          </a:xfrm>
          <a:prstGeom prst="rect">
            <a:avLst/>
          </a:prstGeom>
          <a:solidFill>
            <a:srgbClr val="7B3F00"/>
          </a:solidFill>
          <a:ln/>
          <a:effectLst>
            <a:outerShdw sx="100000" sy="100000" kx="0" ky="0" algn="bl" rotWithShape="0" blurRad="76200" dist="25400" dir="18900000">
              <a:srgbClr val="7B3F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167128"/>
            <a:ext cx="594360" cy="594360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16712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130552"/>
            <a:ext cx="3429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grandezas elétricas: tensão (V), corrente (A), resistência (Ω) e potência (W)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017520"/>
            <a:ext cx="4297680" cy="868680"/>
          </a:xfrm>
          <a:prstGeom prst="rect">
            <a:avLst/>
          </a:prstGeom>
          <a:solidFill>
            <a:srgbClr val="7B3F00"/>
          </a:solidFill>
          <a:ln/>
          <a:effectLst>
            <a:outerShdw sx="100000" sy="100000" kx="0" ky="0" algn="bl" rotWithShape="0" blurRad="76200" dist="25400" dir="18900000">
              <a:srgbClr val="7B3F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127248"/>
            <a:ext cx="594360" cy="594360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312724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3090672"/>
            <a:ext cx="3429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e utilizar instrumentos de medição: voltímetro, amperímetro, ohmímetro, multímetro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977640"/>
            <a:ext cx="4297680" cy="868680"/>
          </a:xfrm>
          <a:prstGeom prst="rect">
            <a:avLst/>
          </a:prstGeom>
          <a:solidFill>
            <a:srgbClr val="7B3F00"/>
          </a:solidFill>
          <a:ln/>
          <a:effectLst>
            <a:outerShdw sx="100000" sy="100000" kx="0" ky="0" algn="bl" rotWithShape="0" blurRad="76200" dist="25400" dir="18900000">
              <a:srgbClr val="7B3F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4087368"/>
            <a:ext cx="594360" cy="594360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40873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4050792"/>
            <a:ext cx="3429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componentes e equipamentos utilizados em circuitos elétricos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1097280"/>
            <a:ext cx="4297680" cy="868680"/>
          </a:xfrm>
          <a:prstGeom prst="rect">
            <a:avLst/>
          </a:prstGeom>
          <a:solidFill>
            <a:srgbClr val="7B3F00"/>
          </a:solidFill>
          <a:ln/>
          <a:effectLst>
            <a:outerShdw sx="100000" sy="100000" kx="0" ky="0" algn="bl" rotWithShape="0" blurRad="76200" dist="25400" dir="18900000">
              <a:srgbClr val="7B3F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37760" y="1207008"/>
            <a:ext cx="594360" cy="594360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120700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23560" y="1170432"/>
            <a:ext cx="3429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 e executar diagramas elétricos simples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2057400"/>
            <a:ext cx="4297680" cy="868680"/>
          </a:xfrm>
          <a:prstGeom prst="rect">
            <a:avLst/>
          </a:prstGeom>
          <a:solidFill>
            <a:srgbClr val="7B3F00"/>
          </a:solidFill>
          <a:ln/>
          <a:effectLst>
            <a:outerShdw sx="100000" sy="100000" kx="0" ky="0" algn="bl" rotWithShape="0" blurRad="76200" dist="25400" dir="18900000">
              <a:srgbClr val="7B3F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37760" y="2167128"/>
            <a:ext cx="594360" cy="594360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16712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623560" y="2130552"/>
            <a:ext cx="3429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 montagem de circuitos elétricos básicos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3017520"/>
            <a:ext cx="4297680" cy="868680"/>
          </a:xfrm>
          <a:prstGeom prst="rect">
            <a:avLst/>
          </a:prstGeom>
          <a:solidFill>
            <a:srgbClr val="7B3F00"/>
          </a:solidFill>
          <a:ln/>
          <a:effectLst>
            <a:outerShdw sx="100000" sy="100000" kx="0" ky="0" algn="bl" rotWithShape="0" blurRad="76200" dist="25400" dir="18900000">
              <a:srgbClr val="7B3F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37760" y="3127248"/>
            <a:ext cx="594360" cy="594360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312724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623560" y="3090672"/>
            <a:ext cx="3429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técnicas de diagnóstico de falhas em circuitos elétricos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B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Prefeitura Municipal de Rio do Sul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B3F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Capacidades Socioemocionais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743200" cy="1737360"/>
          </a:xfrm>
          <a:prstGeom prst="rect">
            <a:avLst/>
          </a:prstGeom>
          <a:solidFill>
            <a:srgbClr val="FFF8E1"/>
          </a:solidFill>
          <a:ln/>
          <a:effectLst>
            <a:outerShdw sx="100000" sy="100000" kx="0" ky="0" algn="bl" rotWithShape="0" blurRad="76200" dist="25400" dir="18900000">
              <a:srgbClr val="7B3F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80160" y="1170432"/>
            <a:ext cx="731520" cy="73152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117043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93852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 com Segurança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30428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Agir com cautela em ambientes elétricos, seguindo normas de segurança rigorosamente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54680" y="1097280"/>
            <a:ext cx="2743200" cy="1737360"/>
          </a:xfrm>
          <a:prstGeom prst="rect">
            <a:avLst/>
          </a:prstGeom>
          <a:solidFill>
            <a:srgbClr val="FFF8E1"/>
          </a:solidFill>
          <a:ln/>
          <a:effectLst>
            <a:outerShdw sx="100000" sy="100000" kx="0" ky="0" algn="bl" rotWithShape="0" blurRad="76200" dist="25400" dir="18900000">
              <a:srgbClr val="7B3F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60520" y="1170432"/>
            <a:ext cx="731520" cy="73152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12" name="Text 10"/>
          <p:cNvSpPr/>
          <p:nvPr/>
        </p:nvSpPr>
        <p:spPr>
          <a:xfrm>
            <a:off x="4160520" y="117043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46120" y="193852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em Equipe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46120" y="230428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Colaborar com colegas nas atividades práticas, dividindo tarefas com respeito e comunicação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1097280"/>
            <a:ext cx="2743200" cy="1737360"/>
          </a:xfrm>
          <a:prstGeom prst="rect">
            <a:avLst/>
          </a:prstGeom>
          <a:solidFill>
            <a:srgbClr val="FFF8E1"/>
          </a:solidFill>
          <a:ln/>
          <a:effectLst>
            <a:outerShdw sx="100000" sy="100000" kx="0" ky="0" algn="bl" rotWithShape="0" blurRad="76200" dist="25400" dir="18900000">
              <a:srgbClr val="7B3F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40880" y="1170432"/>
            <a:ext cx="731520" cy="73152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0" y="117043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26480" y="193852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e Precisão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26480" y="230428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 medições e montagens com cuidado, verificando cada etapa antes de avançar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971800"/>
            <a:ext cx="2743200" cy="1737360"/>
          </a:xfrm>
          <a:prstGeom prst="rect">
            <a:avLst/>
          </a:prstGeom>
          <a:solidFill>
            <a:srgbClr val="FFF8E1"/>
          </a:solidFill>
          <a:ln/>
          <a:effectLst>
            <a:outerShdw sx="100000" sy="100000" kx="0" ky="0" algn="bl" rotWithShape="0" blurRad="76200" dist="25400" dir="18900000">
              <a:srgbClr val="7B3F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280160" y="3044952"/>
            <a:ext cx="731520" cy="73152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22" name="Text 20"/>
          <p:cNvSpPr/>
          <p:nvPr/>
        </p:nvSpPr>
        <p:spPr>
          <a:xfrm>
            <a:off x="1280160" y="30449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5760" y="381304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17880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bancada de trabalho organizada, guardar ferramentas e documentar o trabalho corretamente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154680" y="2971800"/>
            <a:ext cx="2743200" cy="1737360"/>
          </a:xfrm>
          <a:prstGeom prst="rect">
            <a:avLst/>
          </a:prstGeom>
          <a:solidFill>
            <a:srgbClr val="FFF8E1"/>
          </a:solidFill>
          <a:ln/>
          <a:effectLst>
            <a:outerShdw sx="100000" sy="100000" kx="0" ky="0" algn="bl" rotWithShape="0" blurRad="76200" dist="25400" dir="18900000">
              <a:srgbClr val="7B3F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60520" y="3044952"/>
            <a:ext cx="731520" cy="73152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27" name="Text 25"/>
          <p:cNvSpPr/>
          <p:nvPr/>
        </p:nvSpPr>
        <p:spPr>
          <a:xfrm>
            <a:off x="4160520" y="30449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246120" y="381304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46120" y="417880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Expressar dúvidas e descobertas com clareza, participando ativamente das discussões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35040" y="2971800"/>
            <a:ext cx="2743200" cy="1737360"/>
          </a:xfrm>
          <a:prstGeom prst="rect">
            <a:avLst/>
          </a:prstGeom>
          <a:solidFill>
            <a:srgbClr val="FFF8E1"/>
          </a:solidFill>
          <a:ln/>
          <a:effectLst>
            <a:outerShdw sx="100000" sy="100000" kx="0" ky="0" algn="bl" rotWithShape="0" blurRad="76200" dist="25400" dir="18900000">
              <a:srgbClr val="7B3F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040880" y="3044952"/>
            <a:ext cx="731520" cy="73152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0" y="30449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126480" y="381304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Crítico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26480" y="417880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 problemas elétricos com raciocínio lógico, propondo soluções criativas e seguras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B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Prefeitura Municipal de Rio do Sul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15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Grandezas Elétricas e Lei de Ohm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965960" cy="2560320"/>
          </a:xfrm>
          <a:prstGeom prst="rect">
            <a:avLst/>
          </a:prstGeom>
          <a:solidFill>
            <a:srgbClr val="7B3F00"/>
          </a:solidFill>
          <a:ln/>
          <a:effectLst>
            <a:outerShdw sx="100000" sy="100000" kx="0" ky="0" algn="bl" rotWithShape="0" blurRad="76200" dist="25400" dir="18900000">
              <a:srgbClr val="7B3F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188720"/>
            <a:ext cx="914400" cy="914400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188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0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21488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Tensão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2487168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B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2761488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 de potencial entre dois pontos do circuito. "Força" que impulsiona a corrente.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23160" y="1097280"/>
            <a:ext cx="1965960" cy="2560320"/>
          </a:xfrm>
          <a:prstGeom prst="rect">
            <a:avLst/>
          </a:prstGeom>
          <a:solidFill>
            <a:srgbClr val="7B3F00"/>
          </a:solidFill>
          <a:ln/>
          <a:effectLst>
            <a:outerShdw sx="100000" sy="100000" kx="0" ky="0" algn="bl" rotWithShape="0" blurRad="76200" dist="25400" dir="18900000">
              <a:srgbClr val="7B3F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53512" y="1188720"/>
            <a:ext cx="914400" cy="914400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13" name="Text 11"/>
          <p:cNvSpPr/>
          <p:nvPr/>
        </p:nvSpPr>
        <p:spPr>
          <a:xfrm>
            <a:off x="2953512" y="1188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0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468880" y="21488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Corrente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468880" y="2487168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B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Ampère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68880" y="2761488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elétrons por segundo no condutor. Quanto maior, mais elétrons em movimento.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0" y="1097280"/>
            <a:ext cx="1965960" cy="2560320"/>
          </a:xfrm>
          <a:prstGeom prst="rect">
            <a:avLst/>
          </a:prstGeom>
          <a:solidFill>
            <a:srgbClr val="7B3F00"/>
          </a:solidFill>
          <a:ln/>
          <a:effectLst>
            <a:outerShdw sx="100000" sy="100000" kx="0" ky="0" algn="bl" rotWithShape="0" blurRad="76200" dist="25400" dir="18900000">
              <a:srgbClr val="7B3F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102352" y="1188720"/>
            <a:ext cx="914400" cy="914400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19" name="Text 17"/>
          <p:cNvSpPr/>
          <p:nvPr/>
        </p:nvSpPr>
        <p:spPr>
          <a:xfrm>
            <a:off x="5102352" y="1188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0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Ω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617720" y="21488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Resistência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17720" y="2487168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B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17720" y="2761488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Oposição ao fluxo de corrente. Material, espessura e temperatura influenciam.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720840" y="1097280"/>
            <a:ext cx="1965960" cy="2560320"/>
          </a:xfrm>
          <a:prstGeom prst="rect">
            <a:avLst/>
          </a:prstGeom>
          <a:solidFill>
            <a:srgbClr val="7B3F00"/>
          </a:solidFill>
          <a:ln/>
          <a:effectLst>
            <a:outerShdw sx="100000" sy="100000" kx="0" ky="0" algn="bl" rotWithShape="0" blurRad="76200" dist="25400" dir="18900000">
              <a:srgbClr val="7B3F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251192" y="1188720"/>
            <a:ext cx="914400" cy="914400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25" name="Text 23"/>
          <p:cNvSpPr/>
          <p:nvPr/>
        </p:nvSpPr>
        <p:spPr>
          <a:xfrm>
            <a:off x="7251192" y="1188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0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766560" y="21488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Potência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66560" y="2487168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B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66560" y="2761488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Energia elétrica consumida ou produzida por unidade de tempo. P = V × I.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3749040"/>
            <a:ext cx="8595360" cy="914400"/>
          </a:xfrm>
          <a:prstGeom prst="rect">
            <a:avLst/>
          </a:prstGeom>
          <a:solidFill>
            <a:srgbClr val="E65100"/>
          </a:solidFill>
          <a:ln/>
          <a:effectLst>
            <a:outerShdw sx="100000" sy="100000" kx="0" ky="0" algn="bl" rotWithShape="0" blurRad="76200" dist="25400" dir="18900000">
              <a:srgbClr val="7B3F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" y="38404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de Ohm: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103120" y="3840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= R × I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4114800" y="38404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Tensão (V) = Resistência (Ω) × Corrente (A)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B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Prefeitura Municipal de Rio do Sul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B3F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Instalações Elétricas Prediais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2743200" cy="1691640"/>
          </a:xfrm>
          <a:prstGeom prst="rect">
            <a:avLst/>
          </a:prstGeom>
          <a:solidFill>
            <a:srgbClr val="FFF8E1"/>
          </a:solidFill>
          <a:ln/>
          <a:effectLst>
            <a:outerShdw sx="100000" sy="100000" kx="0" ky="0" algn="bl" rotWithShape="0" blurRad="76200" dist="25400" dir="18900000">
              <a:srgbClr val="7B3F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594360" cy="59436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7043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78408" y="1188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Iluminação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8105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LED, Fluorescente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21122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Vapor de sódio/mercúrio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4140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Dicroica, Incandescente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27248" y="1097280"/>
            <a:ext cx="2743200" cy="1691640"/>
          </a:xfrm>
          <a:prstGeom prst="rect">
            <a:avLst/>
          </a:prstGeom>
          <a:solidFill>
            <a:srgbClr val="FFF8E1"/>
          </a:solidFill>
          <a:ln/>
          <a:effectLst>
            <a:outerShdw sx="100000" sy="100000" kx="0" ky="0" algn="bl" rotWithShape="0" blurRad="76200" dist="25400" dir="18900000">
              <a:srgbClr val="7B3F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18688" y="1170432"/>
            <a:ext cx="594360" cy="59436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14" name="Text 12"/>
          <p:cNvSpPr/>
          <p:nvPr/>
        </p:nvSpPr>
        <p:spPr>
          <a:xfrm>
            <a:off x="3218688" y="117043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🔌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877056" y="1188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18688" y="18105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Interruptor simples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18688" y="21122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Interruptor paralelo (3 vias)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18688" y="24140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Tomadas ABNT NBR 14136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25896" y="1097280"/>
            <a:ext cx="2743200" cy="1691640"/>
          </a:xfrm>
          <a:prstGeom prst="rect">
            <a:avLst/>
          </a:prstGeom>
          <a:solidFill>
            <a:srgbClr val="FFF8E1"/>
          </a:solidFill>
          <a:ln/>
          <a:effectLst>
            <a:outerShdw sx="100000" sy="100000" kx="0" ky="0" algn="bl" rotWithShape="0" blurRad="76200" dist="25400" dir="18900000">
              <a:srgbClr val="7B3F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17336" y="1170432"/>
            <a:ext cx="594360" cy="59436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21" name="Text 19"/>
          <p:cNvSpPr/>
          <p:nvPr/>
        </p:nvSpPr>
        <p:spPr>
          <a:xfrm>
            <a:off x="6117336" y="117043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775704" y="1188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17336" y="18105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Disjuntor termomagnético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17336" y="21122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 (Diferencial Residual)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17336" y="24140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Aterramento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28600" y="2926080"/>
            <a:ext cx="2743200" cy="1691640"/>
          </a:xfrm>
          <a:prstGeom prst="rect">
            <a:avLst/>
          </a:prstGeom>
          <a:solidFill>
            <a:srgbClr val="FFF8E1"/>
          </a:solidFill>
          <a:ln/>
          <a:effectLst>
            <a:outerShdw sx="100000" sy="100000" kx="0" ky="0" algn="bl" rotWithShape="0" blurRad="76200" dist="25400" dir="18900000">
              <a:srgbClr val="7B3F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2999232"/>
            <a:ext cx="594360" cy="59436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" y="299923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78408" y="3017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20040" y="36393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Fotocélula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0040" y="39410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Sensor de Presença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0040" y="42428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Programador Horário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127248" y="2926080"/>
            <a:ext cx="2743200" cy="1691640"/>
          </a:xfrm>
          <a:prstGeom prst="rect">
            <a:avLst/>
          </a:prstGeom>
          <a:solidFill>
            <a:srgbClr val="FFF8E1"/>
          </a:solidFill>
          <a:ln/>
          <a:effectLst>
            <a:outerShdw sx="100000" sy="100000" kx="0" ky="0" algn="bl" rotWithShape="0" blurRad="76200" dist="25400" dir="18900000">
              <a:srgbClr val="7B3F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18688" y="2999232"/>
            <a:ext cx="594360" cy="59436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35" name="Text 33"/>
          <p:cNvSpPr/>
          <p:nvPr/>
        </p:nvSpPr>
        <p:spPr>
          <a:xfrm>
            <a:off x="3218688" y="299923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877056" y="3017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Acionamentos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218688" y="36393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Moto-bomba com boia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218688" y="39410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Motores de pequeno porte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218688" y="42428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Ventiladores / Exaustores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025896" y="2926080"/>
            <a:ext cx="2743200" cy="1691640"/>
          </a:xfrm>
          <a:prstGeom prst="rect">
            <a:avLst/>
          </a:prstGeom>
          <a:solidFill>
            <a:srgbClr val="FFF8E1"/>
          </a:solidFill>
          <a:ln/>
          <a:effectLst>
            <a:outerShdw sx="100000" sy="100000" kx="0" ky="0" algn="bl" rotWithShape="0" blurRad="76200" dist="25400" dir="18900000">
              <a:srgbClr val="7B3F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17336" y="2999232"/>
            <a:ext cx="594360" cy="59436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42" name="Text 40"/>
          <p:cNvSpPr/>
          <p:nvPr/>
        </p:nvSpPr>
        <p:spPr>
          <a:xfrm>
            <a:off x="6117336" y="299923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775704" y="3017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Condutores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117336" y="36393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Tipos e especificações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117336" y="39410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Emendas de condutores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117336" y="42428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Proteção e encaminhamento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B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Prefeitura Municipal de Rio do Sul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15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🦺  Segurança do Trabalho — NR 10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2743200" cy="1691640"/>
          </a:xfrm>
          <a:prstGeom prst="rect">
            <a:avLst/>
          </a:prstGeom>
          <a:solidFill>
            <a:srgbClr val="7B3F00"/>
          </a:solidFill>
          <a:ln/>
          <a:effectLst>
            <a:outerShdw sx="100000" sy="100000" kx="0" ky="0" algn="bl" rotWithShape="0" blurRad="76200" dist="25400" dir="18900000">
              <a:srgbClr val="7B3F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594360" cy="594360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7043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78408" y="1188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Elétricos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8105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Choque elétrico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21122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Arco elétrico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4140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Incêndio e explosão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27248" y="1097280"/>
            <a:ext cx="2743200" cy="1691640"/>
          </a:xfrm>
          <a:prstGeom prst="rect">
            <a:avLst/>
          </a:prstGeom>
          <a:solidFill>
            <a:srgbClr val="7B3F00"/>
          </a:solidFill>
          <a:ln/>
          <a:effectLst>
            <a:outerShdw sx="100000" sy="100000" kx="0" ky="0" algn="bl" rotWithShape="0" blurRad="76200" dist="25400" dir="18900000">
              <a:srgbClr val="7B3F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18688" y="1170432"/>
            <a:ext cx="594360" cy="594360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14" name="Text 12"/>
          <p:cNvSpPr/>
          <p:nvPr/>
        </p:nvSpPr>
        <p:spPr>
          <a:xfrm>
            <a:off x="3218688" y="117043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🥽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877056" y="1188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 Elétrico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18688" y="18105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Luvas isolantes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18688" y="21122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Capacete com aba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18688" y="24140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Óculos de proteção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18688" y="27157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Calçado isolante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25896" y="1097280"/>
            <a:ext cx="2743200" cy="1691640"/>
          </a:xfrm>
          <a:prstGeom prst="rect">
            <a:avLst/>
          </a:prstGeom>
          <a:solidFill>
            <a:srgbClr val="7B3F00"/>
          </a:solidFill>
          <a:ln/>
          <a:effectLst>
            <a:outerShdw sx="100000" sy="100000" kx="0" ky="0" algn="bl" rotWithShape="0" blurRad="76200" dist="25400" dir="18900000">
              <a:srgbClr val="7B3F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17336" y="1170432"/>
            <a:ext cx="594360" cy="594360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22" name="Text 20"/>
          <p:cNvSpPr/>
          <p:nvPr/>
        </p:nvSpPr>
        <p:spPr>
          <a:xfrm>
            <a:off x="6117336" y="117043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🚧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775704" y="1188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17336" y="18105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Sinalização de área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17336" y="21122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Barreira de segurança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17336" y="24140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Bloqueio/etiquetagem (LOTO)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8600" y="2926080"/>
            <a:ext cx="2743200" cy="1691640"/>
          </a:xfrm>
          <a:prstGeom prst="rect">
            <a:avLst/>
          </a:prstGeom>
          <a:solidFill>
            <a:srgbClr val="7B3F00"/>
          </a:solidFill>
          <a:ln/>
          <a:effectLst>
            <a:outerShdw sx="100000" sy="100000" kx="0" ky="0" algn="bl" rotWithShape="0" blurRad="76200" dist="25400" dir="18900000">
              <a:srgbClr val="7B3F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2999232"/>
            <a:ext cx="594360" cy="594360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299923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78408" y="3017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 10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20040" y="36393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Trabalho em instalações desenergizadas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0040" y="39410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Procedimentos de segurança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0040" y="42428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Sinalização obrigatória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127248" y="2926080"/>
            <a:ext cx="2743200" cy="1691640"/>
          </a:xfrm>
          <a:prstGeom prst="rect">
            <a:avLst/>
          </a:prstGeom>
          <a:solidFill>
            <a:srgbClr val="7B3F00"/>
          </a:solidFill>
          <a:ln/>
          <a:effectLst>
            <a:outerShdw sx="100000" sy="100000" kx="0" ky="0" algn="bl" rotWithShape="0" blurRad="76200" dist="25400" dir="18900000">
              <a:srgbClr val="7B3F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18688" y="2999232"/>
            <a:ext cx="594360" cy="594360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36" name="Text 34"/>
          <p:cNvSpPr/>
          <p:nvPr/>
        </p:nvSpPr>
        <p:spPr>
          <a:xfrm>
            <a:off x="3218688" y="299923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🚒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3877056" y="3017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Socorros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218688" y="36393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Parada cardiorrespiratória (PCR)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218688" y="39410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NÃO toque a vítima energizada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218688" y="42428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Chame socorro imediatamente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025896" y="2926080"/>
            <a:ext cx="2743200" cy="1691640"/>
          </a:xfrm>
          <a:prstGeom prst="rect">
            <a:avLst/>
          </a:prstGeom>
          <a:solidFill>
            <a:srgbClr val="7B3F00"/>
          </a:solidFill>
          <a:ln/>
          <a:effectLst>
            <a:outerShdw sx="100000" sy="100000" kx="0" ky="0" algn="bl" rotWithShape="0" blurRad="76200" dist="25400" dir="18900000">
              <a:srgbClr val="7B3F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17336" y="2999232"/>
            <a:ext cx="594360" cy="594360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43" name="Text 41"/>
          <p:cNvSpPr/>
          <p:nvPr/>
        </p:nvSpPr>
        <p:spPr>
          <a:xfrm>
            <a:off x="6117336" y="299923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🔥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775704" y="3017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Incêndio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117336" y="36393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Triângulo do fogo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117336" y="39410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Classes A, B, C, D, K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117336" y="42428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Extintor adequado para classe C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B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Prefeitura Municipal de Rio do Sul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B3F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Combinados e Regras da Turma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206240" cy="914400"/>
          </a:xfrm>
          <a:prstGeom prst="rect">
            <a:avLst/>
          </a:prstGeom>
          <a:solidFill>
            <a:srgbClr val="FFF8E1"/>
          </a:solidFill>
          <a:ln/>
          <a:effectLst>
            <a:outerShdw sx="100000" sy="100000" kx="0" ky="0" algn="bl" rotWithShape="0" blurRad="76200" dist="25400" dir="18900000">
              <a:srgbClr val="7B3F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234440"/>
            <a:ext cx="640080" cy="64008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📵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43000" y="123444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 no silencioso durante as aulas práticas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097280"/>
            <a:ext cx="4206240" cy="914400"/>
          </a:xfrm>
          <a:prstGeom prst="rect">
            <a:avLst/>
          </a:prstGeom>
          <a:solidFill>
            <a:srgbClr val="FFF8E1"/>
          </a:solidFill>
          <a:ln/>
          <a:effectLst>
            <a:outerShdw sx="100000" sy="100000" kx="0" ky="0" algn="bl" rotWithShape="0" blurRad="76200" dist="25400" dir="18900000">
              <a:srgbClr val="7B3F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18888" y="1234440"/>
            <a:ext cx="640080" cy="64008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11" name="Text 9"/>
          <p:cNvSpPr/>
          <p:nvPr/>
        </p:nvSpPr>
        <p:spPr>
          <a:xfrm>
            <a:off x="4818888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👟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577840" y="123444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calçado fechado no laboratório — OBRIGATÓRIO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103120"/>
            <a:ext cx="4206240" cy="914400"/>
          </a:xfrm>
          <a:prstGeom prst="rect">
            <a:avLst/>
          </a:prstGeom>
          <a:solidFill>
            <a:srgbClr val="FFF8E1"/>
          </a:solidFill>
          <a:ln/>
          <a:effectLst>
            <a:outerShdw sx="100000" sy="100000" kx="0" ky="0" algn="bl" rotWithShape="0" blurRad="76200" dist="25400" dir="18900000">
              <a:srgbClr val="7B3F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4048" y="2240280"/>
            <a:ext cx="640080" cy="64008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🚫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43000" y="224028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toque em equipamentos ligados sem orientação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2103120"/>
            <a:ext cx="4206240" cy="914400"/>
          </a:xfrm>
          <a:prstGeom prst="rect">
            <a:avLst/>
          </a:prstGeom>
          <a:solidFill>
            <a:srgbClr val="FFF8E1"/>
          </a:solidFill>
          <a:ln/>
          <a:effectLst>
            <a:outerShdw sx="100000" sy="100000" kx="0" ky="0" algn="bl" rotWithShape="0" blurRad="76200" dist="25400" dir="18900000">
              <a:srgbClr val="7B3F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18888" y="2240280"/>
            <a:ext cx="640080" cy="64008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19" name="Text 17"/>
          <p:cNvSpPr/>
          <p:nvPr/>
        </p:nvSpPr>
        <p:spPr>
          <a:xfrm>
            <a:off x="4818888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577840" y="224028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Respeite colegas e professor — trabalho em equipe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108960"/>
            <a:ext cx="4206240" cy="914400"/>
          </a:xfrm>
          <a:prstGeom prst="rect">
            <a:avLst/>
          </a:prstGeom>
          <a:solidFill>
            <a:srgbClr val="FFF8E1"/>
          </a:solidFill>
          <a:ln/>
          <a:effectLst>
            <a:outerShdw sx="100000" sy="100000" kx="0" ky="0" algn="bl" rotWithShape="0" blurRad="76200" dist="25400" dir="18900000">
              <a:srgbClr val="7B3F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4048" y="3246120"/>
            <a:ext cx="640080" cy="64008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23" name="Text 21"/>
          <p:cNvSpPr/>
          <p:nvPr/>
        </p:nvSpPr>
        <p:spPr>
          <a:xfrm>
            <a:off x="384048" y="3246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143000" y="324612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Traga materiais necessários a cada aula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09160" y="3108960"/>
            <a:ext cx="4206240" cy="914400"/>
          </a:xfrm>
          <a:prstGeom prst="rect">
            <a:avLst/>
          </a:prstGeom>
          <a:solidFill>
            <a:srgbClr val="FFF8E1"/>
          </a:solidFill>
          <a:ln/>
          <a:effectLst>
            <a:outerShdw sx="100000" sy="100000" kx="0" ky="0" algn="bl" rotWithShape="0" blurRad="76200" dist="25400" dir="18900000">
              <a:srgbClr val="7B3F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18888" y="3246120"/>
            <a:ext cx="640080" cy="64008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27" name="Text 25"/>
          <p:cNvSpPr/>
          <p:nvPr/>
        </p:nvSpPr>
        <p:spPr>
          <a:xfrm>
            <a:off x="4818888" y="3246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⏰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577840" y="324612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Pontualidade — importante para o tempo de prática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4320" y="4206240"/>
            <a:ext cx="8595360" cy="685800"/>
          </a:xfrm>
          <a:prstGeom prst="rect">
            <a:avLst/>
          </a:prstGeom>
          <a:solidFill>
            <a:srgbClr val="E65100"/>
          </a:solidFill>
          <a:ln/>
          <a:effectLst>
            <a:outerShdw sx="100000" sy="100000" kx="0" ky="0" algn="bl" rotWithShape="0" blurRad="76200" dist="25400" dir="18900000">
              <a:srgbClr val="7B3F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" y="42519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ATENÇÃO: Segurança elétrica é obrigatória nesta UC. Descumprir normas pode resultar em acidentes graves.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B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Prefeitura Municipal de Rio do Sul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15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Sistema de Avaliação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965960" cy="3566160"/>
          </a:xfrm>
          <a:prstGeom prst="rect">
            <a:avLst/>
          </a:prstGeom>
          <a:solidFill>
            <a:srgbClr val="7B3F00"/>
          </a:solidFill>
          <a:ln/>
          <a:effectLst>
            <a:outerShdw sx="100000" sy="100000" kx="0" ky="0" algn="bl" rotWithShape="0" blurRad="76200" dist="25400" dir="18900000">
              <a:srgbClr val="7B3F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1965960" cy="594360"/>
          </a:xfrm>
          <a:prstGeom prst="rect">
            <a:avLst/>
          </a:prstGeom>
          <a:solidFill>
            <a:srgbClr val="7B3F0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9728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04672" y="182880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💻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20040" y="269748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AVA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" y="32004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 e quizzes na plataforma virtual — conceitos teóricos de eletricidade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23160" y="1097280"/>
            <a:ext cx="1965960" cy="3566160"/>
          </a:xfrm>
          <a:prstGeom prst="rect">
            <a:avLst/>
          </a:prstGeom>
          <a:solidFill>
            <a:srgbClr val="7B3F00"/>
          </a:solidFill>
          <a:ln/>
          <a:effectLst>
            <a:outerShdw sx="100000" sy="100000" kx="0" ky="0" algn="bl" rotWithShape="0" blurRad="76200" dist="25400" dir="18900000">
              <a:srgbClr val="7B3F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23160" y="1097280"/>
            <a:ext cx="1965960" cy="59436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3" name="Text 11"/>
          <p:cNvSpPr/>
          <p:nvPr/>
        </p:nvSpPr>
        <p:spPr>
          <a:xfrm>
            <a:off x="2423160" y="109728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953512" y="182880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✍️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468880" y="269748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Objetiva + Prática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96312" y="32004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teórica escrita + montagem de circuito e uso de multímetro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1097280"/>
            <a:ext cx="1965960" cy="3566160"/>
          </a:xfrm>
          <a:prstGeom prst="rect">
            <a:avLst/>
          </a:prstGeom>
          <a:solidFill>
            <a:srgbClr val="7B3F00"/>
          </a:solidFill>
          <a:ln/>
          <a:effectLst>
            <a:outerShdw sx="100000" sy="100000" kx="0" ky="0" algn="bl" rotWithShape="0" blurRad="76200" dist="25400" dir="18900000">
              <a:srgbClr val="7B3F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1097280"/>
            <a:ext cx="1965960" cy="594360"/>
          </a:xfrm>
          <a:prstGeom prst="rect">
            <a:avLst/>
          </a:prstGeom>
          <a:solidFill>
            <a:srgbClr val="7B3F00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109728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102352" y="182880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🔭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4617720" y="269748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 de Aprendizagem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45152" y="32004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prático em grupo com apresentação e relatório técnico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20840" y="1097280"/>
            <a:ext cx="1965960" cy="3566160"/>
          </a:xfrm>
          <a:prstGeom prst="rect">
            <a:avLst/>
          </a:prstGeom>
          <a:solidFill>
            <a:srgbClr val="7B3F00"/>
          </a:solidFill>
          <a:ln/>
          <a:effectLst>
            <a:outerShdw sx="100000" sy="100000" kx="0" ky="0" algn="bl" rotWithShape="0" blurRad="76200" dist="25400" dir="18900000">
              <a:srgbClr val="7B3F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20840" y="1097280"/>
            <a:ext cx="1965960" cy="59436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5" name="Text 23"/>
          <p:cNvSpPr/>
          <p:nvPr/>
        </p:nvSpPr>
        <p:spPr>
          <a:xfrm>
            <a:off x="6720840" y="109728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251192" y="182880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🦺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766560" y="269748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93992" y="32004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Assiduidade, postura de segurança, organização e trabalho em equipe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Final = Média de N1 + N2 + N3 + N4   |   Mínimo para aprovação: 6,0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B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Prefeitura Municipal de Rio do Sul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B3F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🦺  Avaliação de Comportamento (N4)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685800"/>
          </a:xfrm>
          <a:prstGeom prst="rect">
            <a:avLst/>
          </a:prstGeom>
          <a:solidFill>
            <a:srgbClr val="FFF8E1"/>
          </a:solidFill>
          <a:ln/>
          <a:effectLst>
            <a:outerShdw sx="100000" sy="100000" kx="0" ky="0" algn="bl" rotWithShape="0" blurRad="76200" dist="25400" dir="18900000">
              <a:srgbClr val="7B3F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188720"/>
            <a:ext cx="502920" cy="50292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1430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Assiduidade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51760" y="1234440"/>
            <a:ext cx="731520" cy="411480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123444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20440" y="118872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Presença nas aulas e pontualidade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847088"/>
            <a:ext cx="8595360" cy="68580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76200" dist="25400" dir="18900000">
              <a:srgbClr val="7B3F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4048" y="1938528"/>
            <a:ext cx="502920" cy="50292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" y="19385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🛡️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189280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651760" y="1984248"/>
            <a:ext cx="731520" cy="411480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17" name="Text 15"/>
          <p:cNvSpPr/>
          <p:nvPr/>
        </p:nvSpPr>
        <p:spPr>
          <a:xfrm>
            <a:off x="2651760" y="1984248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20440" y="1938528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correto de EPI, respeito às normas NR 10 e procedimentos de segurança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596896"/>
            <a:ext cx="8595360" cy="685800"/>
          </a:xfrm>
          <a:prstGeom prst="rect">
            <a:avLst/>
          </a:prstGeom>
          <a:solidFill>
            <a:srgbClr val="FFF8E1"/>
          </a:solidFill>
          <a:ln/>
          <a:effectLst>
            <a:outerShdw sx="100000" sy="100000" kx="0" ky="0" algn="bl" rotWithShape="0" blurRad="76200" dist="25400" dir="18900000">
              <a:srgbClr val="7B3F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048" y="2688336"/>
            <a:ext cx="502920" cy="50292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" y="26883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🤝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2642616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651760" y="2734056"/>
            <a:ext cx="731520" cy="411480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24" name="Text 22"/>
          <p:cNvSpPr/>
          <p:nvPr/>
        </p:nvSpPr>
        <p:spPr>
          <a:xfrm>
            <a:off x="2651760" y="2734056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520440" y="2688336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Colaboração, respeito e comunicação com colegas durante atividades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346704"/>
            <a:ext cx="8595360" cy="68580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76200" dist="25400" dir="18900000">
              <a:srgbClr val="7B3F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84048" y="3438144"/>
            <a:ext cx="502920" cy="50292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28" name="Text 26"/>
          <p:cNvSpPr/>
          <p:nvPr/>
        </p:nvSpPr>
        <p:spPr>
          <a:xfrm>
            <a:off x="384048" y="34381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📐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05840" y="3392424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651760" y="3483864"/>
            <a:ext cx="731520" cy="411480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31" name="Text 29"/>
          <p:cNvSpPr/>
          <p:nvPr/>
        </p:nvSpPr>
        <p:spPr>
          <a:xfrm>
            <a:off x="2651760" y="3483864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520440" y="3438144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Bancada organizada, ferramentas guardadas, relatórios entregues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4096512"/>
            <a:ext cx="8595360" cy="685800"/>
          </a:xfrm>
          <a:prstGeom prst="rect">
            <a:avLst/>
          </a:prstGeom>
          <a:solidFill>
            <a:srgbClr val="FFF8E1"/>
          </a:solidFill>
          <a:ln/>
          <a:effectLst>
            <a:outerShdw sx="100000" sy="100000" kx="0" ky="0" algn="bl" rotWithShape="0" blurRad="76200" dist="25400" dir="18900000">
              <a:srgbClr val="7B3F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84048" y="4187952"/>
            <a:ext cx="502920" cy="50292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35" name="Text 33"/>
          <p:cNvSpPr/>
          <p:nvPr/>
        </p:nvSpPr>
        <p:spPr>
          <a:xfrm>
            <a:off x="384048" y="4187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💬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05840" y="414223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Participação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651760" y="4233672"/>
            <a:ext cx="731520" cy="411480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38" name="Text 36"/>
          <p:cNvSpPr/>
          <p:nvPr/>
        </p:nvSpPr>
        <p:spPr>
          <a:xfrm>
            <a:off x="2651760" y="4233672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520440" y="4187952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Engajamento em discussões, perguntas pertinentes e iniciativa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B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Prefeitura Municipal de Rio do Sul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15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 Situação de Aprendizagem (N3)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914400"/>
          </a:xfrm>
          <a:prstGeom prst="rect">
            <a:avLst/>
          </a:prstGeom>
          <a:solidFill>
            <a:srgbClr val="7B3F00"/>
          </a:solidFill>
          <a:ln/>
          <a:effectLst>
            <a:outerShdw sx="100000" sy="100000" kx="0" ky="0" algn="bl" rotWithShape="0" blurRad="76200" dist="25400" dir="18900000">
              <a:srgbClr val="7B3F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43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🏆  Projeto: Montar e Testar um Circuito Elétrico Simples com Segurança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" y="2148840"/>
            <a:ext cx="2743200" cy="1325880"/>
          </a:xfrm>
          <a:prstGeom prst="rect">
            <a:avLst/>
          </a:prstGeom>
          <a:solidFill>
            <a:srgbClr val="7B3F00"/>
          </a:solidFill>
          <a:ln/>
          <a:effectLst>
            <a:outerShdw sx="100000" sy="100000" kx="0" ky="0" algn="bl" rotWithShape="0" blurRad="76200" dist="25400" dir="18900000">
              <a:srgbClr val="7B3F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148840"/>
            <a:ext cx="2743200" cy="41148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2148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 — Planejamento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" y="258775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o circuito, pesquisar componentes e elaborar diagrama esquemático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54680" y="2148840"/>
            <a:ext cx="2743200" cy="1325880"/>
          </a:xfrm>
          <a:prstGeom prst="rect">
            <a:avLst/>
          </a:prstGeom>
          <a:solidFill>
            <a:srgbClr val="7B3F00"/>
          </a:solidFill>
          <a:ln/>
          <a:effectLst>
            <a:outerShdw sx="100000" sy="100000" kx="0" ky="0" algn="bl" rotWithShape="0" blurRad="76200" dist="25400" dir="18900000">
              <a:srgbClr val="7B3F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2148840"/>
            <a:ext cx="2743200" cy="41148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2148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— Segurança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27832" y="258775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 EPIs necessários, identificar riscos e procedimentos preventivos NR 10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2148840"/>
            <a:ext cx="2743200" cy="1325880"/>
          </a:xfrm>
          <a:prstGeom prst="rect">
            <a:avLst/>
          </a:prstGeom>
          <a:solidFill>
            <a:srgbClr val="7B3F00"/>
          </a:solidFill>
          <a:ln/>
          <a:effectLst>
            <a:outerShdw sx="100000" sy="100000" kx="0" ky="0" algn="bl" rotWithShape="0" blurRad="76200" dist="25400" dir="18900000">
              <a:srgbClr val="7B3F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2148840"/>
            <a:ext cx="2743200" cy="41148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7" name="Text 15"/>
          <p:cNvSpPr/>
          <p:nvPr/>
        </p:nvSpPr>
        <p:spPr>
          <a:xfrm>
            <a:off x="6080760" y="2148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 — Simulação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08192" y="258775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Montar e testar o circuito no Tinkercad ou Falstad antes da prática real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566160"/>
            <a:ext cx="2743200" cy="1325880"/>
          </a:xfrm>
          <a:prstGeom prst="rect">
            <a:avLst/>
          </a:prstGeom>
          <a:solidFill>
            <a:srgbClr val="7B3F00"/>
          </a:solidFill>
          <a:ln/>
          <a:effectLst>
            <a:outerShdw sx="100000" sy="100000" kx="0" ky="0" algn="bl" rotWithShape="0" blurRad="76200" dist="25400" dir="18900000">
              <a:srgbClr val="7B3F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566160"/>
            <a:ext cx="2743200" cy="41148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35661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4 — Montagem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" y="400507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Montar o circuito físico no protoboard ou placa, com supervisão do professor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154680" y="3566160"/>
            <a:ext cx="2743200" cy="1325880"/>
          </a:xfrm>
          <a:prstGeom prst="rect">
            <a:avLst/>
          </a:prstGeom>
          <a:solidFill>
            <a:srgbClr val="7B3F00"/>
          </a:solidFill>
          <a:ln/>
          <a:effectLst>
            <a:outerShdw sx="100000" sy="100000" kx="0" ky="0" algn="bl" rotWithShape="0" blurRad="76200" dist="25400" dir="18900000">
              <a:srgbClr val="7B3F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54680" y="3566160"/>
            <a:ext cx="2743200" cy="41148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0" y="35661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5 — Medição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27832" y="400507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tensão, corrente e resistência com multímetro e comparar com o calculado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35040" y="3566160"/>
            <a:ext cx="2743200" cy="1325880"/>
          </a:xfrm>
          <a:prstGeom prst="rect">
            <a:avLst/>
          </a:prstGeom>
          <a:solidFill>
            <a:srgbClr val="7B3F00"/>
          </a:solidFill>
          <a:ln/>
          <a:effectLst>
            <a:outerShdw sx="100000" sy="100000" kx="0" ky="0" algn="bl" rotWithShape="0" blurRad="76200" dist="25400" dir="18900000">
              <a:srgbClr val="7B3F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35040" y="3566160"/>
            <a:ext cx="2743200" cy="41148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9" name="Text 27"/>
          <p:cNvSpPr/>
          <p:nvPr/>
        </p:nvSpPr>
        <p:spPr>
          <a:xfrm>
            <a:off x="6080760" y="35661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6 — Apresentação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08192" y="400507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Apresentar o circuito para a turma explicando funcionamento e resultados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B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Prefeitura Municipal de Rio do Sul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2026-08-19T17:25:04Z</dcterms:created>
  <dcterms:modified xsi:type="dcterms:W3CDTF">2026-08-19T17:25:04Z</dcterms:modified>
</cp:coreProperties>
</file>