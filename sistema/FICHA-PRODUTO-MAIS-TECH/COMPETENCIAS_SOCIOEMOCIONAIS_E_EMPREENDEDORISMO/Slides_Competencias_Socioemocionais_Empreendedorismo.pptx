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47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Competências Socioemocionais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 Empreendedorismo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C518"/>
                </a:solidFill>
              </a:rPr>
              <a:t>Rio do Sul Mais Tech · SENAI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Prefeitura Municipal de Rio do Sul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</a:rPr>
              <a:t>Rio do Sul Mais Tech · SENAI · UC: Competências Socioemocionais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47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RIO DO SUL MAIS TECH / SENAI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Prefeitura Municipal de Rio do Sul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828800" y="3383280"/>
            <a:ext cx="5486400" cy="73152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</a:rPr>
              <a:t>Rio do Sul Mais Tech · SENAI · UC: Competências Socioemocionais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4731"/>
                </a:solidFill>
              </a:rPr>
              <a:t>Unidade Curricular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8595360" cy="36576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• UC: Competências Socioemocionais e Empreendedorismo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• Carga Horária: 36 horas presenciais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• Modalidade: Presencial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• Programa: Rio do Sul Mais Tech — SENAI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• Público: Alunos do 8º e 9º ano (12–15 anos)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</a:rPr>
              <a:t>Rio do Sul Mais Tech · SENAI · UC: Competências Socioemocionais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4731"/>
                </a:solidFill>
              </a:rPr>
              <a:t>Seu Professor(a)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8595360" cy="36576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4731"/>
                </a:solidFill>
              </a:rPr>
              <a:t>Nome: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377440" y="1344168"/>
            <a:ext cx="6400800" cy="0"/>
          </a:xfrm>
          <a:prstGeom prst="line">
            <a:avLst/>
          </a:prstGeom>
          <a:noFill/>
          <a:ln w="12700">
            <a:solidFill>
              <a:srgbClr val="1A47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4731"/>
                </a:solidFill>
              </a:rPr>
              <a:t>Formação: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377440" y="2167128"/>
            <a:ext cx="6400800" cy="0"/>
          </a:xfrm>
          <a:prstGeom prst="line">
            <a:avLst/>
          </a:prstGeom>
          <a:noFill/>
          <a:ln w="12700">
            <a:solidFill>
              <a:srgbClr val="1A47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4731"/>
                </a:solidFill>
              </a:rPr>
              <a:t>Experiência: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377440" y="2990088"/>
            <a:ext cx="6400800" cy="0"/>
          </a:xfrm>
          <a:prstGeom prst="line">
            <a:avLst/>
          </a:prstGeom>
          <a:noFill/>
          <a:ln w="12700">
            <a:solidFill>
              <a:srgbClr val="1A47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474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4731"/>
                </a:solidFill>
              </a:rPr>
              <a:t>Contato: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377440" y="3813048"/>
            <a:ext cx="6400800" cy="0"/>
          </a:xfrm>
          <a:prstGeom prst="line">
            <a:avLst/>
          </a:prstGeom>
          <a:noFill/>
          <a:ln w="12700">
            <a:solidFill>
              <a:srgbClr val="1A47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</a:rPr>
              <a:t>Rio do Sul Mais Tech · SENAI · UC: Competências Socioemocionais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4731"/>
                </a:solidFill>
              </a:rPr>
              <a:t>Dinâmica: Avião de Papel ✈️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8595360" cy="36576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1. Pegue uma folha de papel e escreva seu nome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2. Escreva 3 palavras que te descrevem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3. Escreva um sonho ou objetivo de vida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4. Dobre o papel em formato de avião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5. Lance o avião — e conheça quem recebeu o seu!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</a:rPr>
              <a:t>Rio do Sul Mais Tech · SENAI · UC: Competências Socioemocionais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4731"/>
                </a:solidFill>
              </a:rPr>
              <a:t>Plano de Ensino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8595360" cy="36576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4731"/>
                </a:solidFill>
              </a:rPr>
              <a:t>Carga Horária: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0" y="9144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</a:rPr>
              <a:t>36 horas presenciais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4731"/>
                </a:solidFill>
              </a:rPr>
              <a:t>Encontros: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0" y="16002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</a:rPr>
              <a:t>18 encontros de 2h cada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4731"/>
                </a:solidFill>
              </a:rPr>
              <a:t>Dias: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2860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</a:rPr>
              <a:t>Segunda a sexta-feira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9718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4731"/>
                </a:solidFill>
              </a:rPr>
              <a:t>Local: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57600" y="29718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</a:rPr>
              <a:t>LabTEC (polo da turma)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36576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4731"/>
                </a:solidFill>
              </a:rPr>
              <a:t>Frequência mínima: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0" y="36576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</a:rPr>
              <a:t>75% de presença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</a:rPr>
              <a:t>Rio do Sul Mais Tech · SENAI · UC: Competências Socioemocionais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4731"/>
                </a:solidFill>
              </a:rPr>
              <a:t>Capacidades Técnicas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8595360" cy="36576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</a:rPr>
              <a:t>✔ Identificar oportunidades de negócios no contexto local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</a:rPr>
              <a:t>✔ Reconhecer o perfil e as virtudes do empreendedor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</a:rPr>
              <a:t>✔ Aplicar comportamento ético nos contextos profissional e pessoal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</a:rPr>
              <a:t>✔ Praticar os 5R's da sustentabilidade no cotidiano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</a:rPr>
              <a:t>✔ Elaborar elementos básicos de um plano de negócios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</a:rPr>
              <a:t>Rio do Sul Mais Tech · SENAI · UC: Competências Socioemocionais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4731"/>
                </a:solidFill>
              </a:rPr>
              <a:t>Capacidades Socioemocionais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8595360" cy="36576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★ Autoconhecimento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5361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★ Trabalho em equipe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5798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★ Inteligência emocional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77977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★ Ética e responsabilidade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4015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★ Comunicação assertiva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★ Resiliência e persistência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</a:rPr>
              <a:t>Rio do Sul Mais Tech · SENAI · UC: Competências Socioemocionais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4731"/>
                </a:solidFill>
              </a:rPr>
              <a:t>Conteúdo Programático — Parte I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8595360" cy="36576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• Os 5R's e sustentabilidade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• Coleta seletiva e reciclagem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• Ciclo da água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• Legislação ambiental básica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• Empreendedorismo e meio ambiente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</a:rPr>
              <a:t>Rio do Sul Mais Tech · SENAI · UC: Competências Socioemocionais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4731"/>
                </a:solidFill>
              </a:rPr>
              <a:t>Conteúdo Programático — Parte II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8595360" cy="36576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• O que é empreendedorismo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• Tipos de empreendimentos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• Identificando oportunidades de negócio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• Plano de negócios (estrutura básica)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• Perfil e virtudes do empreendedor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</a:rPr>
              <a:t>Rio do Sul Mais Tech · SENAI · UC: Competências Socioemocionais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4731"/>
                </a:solidFill>
              </a:rPr>
              <a:t>Conteúdo Programático — Parte III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8595360" cy="36576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• Micro e pequenas empresas (MPEs)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• Planejamento e gestão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• Intraempreendedorismo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• Competências socioemocionais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• Ética no mundo do trabalho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</a:rPr>
              <a:t>Rio do Sul Mais Tech · SENAI · UC: Competências Socioemocionais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4731"/>
                </a:solidFill>
              </a:rPr>
              <a:t>Combinados da Sala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8595360" cy="36576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1. Respeito mútuo — com colegas, professor e espaço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2. Pontualidade — começamos no horário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3. Celular no silencioso durante as atividades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4. Participação ativa — sua voz faz diferença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5. Colaboração — aprendemos mais juntos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</a:rPr>
              <a:t>Rio do Sul Mais Tech · SENAI · UC: Competências Socioemocionais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4731"/>
                </a:solidFill>
              </a:rPr>
              <a:t>Sistema de Avaliação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8595360" cy="36576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• Notas de 1 a 4 por encontro / atividade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• Frequência mínima: 75% das aulas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• Nota mínima para aprovação: 7,0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• Atividades práticas e participação contam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• Projeto Integrador — apresentação ao final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</a:rPr>
              <a:t>Rio do Sul Mais Tech · SENAI · UC: Competências Socioemocionais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4731"/>
                </a:solidFill>
              </a:rPr>
              <a:t>Comportamento e Atitude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8595360" cy="36576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Sua postura em sala faz parte da sua avaliação.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Respeito, pontualidade, colaboração e participação são tão importantes quanto a nota nas atividades.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O mercado de trabalho valoriza quem sabe se comportar profissionalmente — e começamos a treinar isso aqui!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</a:rPr>
              <a:t>Rio do Sul Mais Tech · SENAI · UC: Competências Socioemocionais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4731"/>
                </a:solidFill>
              </a:rPr>
              <a:t>Situação de Aprendizagem — Projeto Integrador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8595360" cy="36576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4731"/>
                </a:solidFill>
              </a:rPr>
              <a:t>Mini Plano de Negócios Sustentável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• Produto ou serviço: o que você vai oferecer?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• Público-alvo: quem são seus clientes?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• Impacto ambiental/social: como seu negócio ajuda o mundo?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337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• Diferenciais: por que escolher você?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</a:rPr>
              <a:t>Rio do Sul Mais Tech · SENAI · UC: Competências Socioemocionais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4731"/>
                </a:solidFill>
              </a:rPr>
              <a:t>O que é Empreendedorismo?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8595360" cy="36576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731"/>
                </a:solidFill>
              </a:rPr>
              <a:t>Definição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118872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</a:rPr>
              <a:t>Empreendedorismo é a capacidade de identificar oportunidades e criar soluções — produtos, serviços ou processos — que geram valor para as pessoas e para a sociedade.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731"/>
                </a:solidFill>
              </a:rPr>
              <a:t>Exemplos Jovens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11887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</a:rPr>
              <a:t>★ Luiz Guilherme — criou app de organização escolar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19202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</a:rPr>
              <a:t>★ Marina — vende artesanato sustentável online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265176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</a:rPr>
              <a:t>★ Caio — dá aulas de informática para vizinhos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</a:rPr>
              <a:t>Rio do Sul Mais Tech · SENAI · UC: Competências Socioemocionais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4731"/>
                </a:solidFill>
              </a:rPr>
              <a:t>Perfil do Empreendedor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8595360" cy="36576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0"/>
            <a:ext cx="2743200" cy="1463040"/>
          </a:xfrm>
          <a:prstGeom prst="rect">
            <a:avLst/>
          </a:prstGeom>
          <a:solidFill>
            <a:srgbClr val="1A4731"/>
          </a:solidFill>
          <a:ln w="25400">
            <a:solidFill>
              <a:srgbClr val="F5C5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C518"/>
                </a:solidFill>
              </a:rPr>
              <a:t>★ Criatividade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91840" y="914400"/>
            <a:ext cx="2743200" cy="1463040"/>
          </a:xfrm>
          <a:prstGeom prst="rect">
            <a:avLst/>
          </a:prstGeom>
          <a:solidFill>
            <a:srgbClr val="1A4731"/>
          </a:solidFill>
          <a:ln w="25400">
            <a:solidFill>
              <a:srgbClr val="F5C5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C518"/>
                </a:solidFill>
              </a:rPr>
              <a:t>★ Persistência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09360" y="914400"/>
            <a:ext cx="2743200" cy="1463040"/>
          </a:xfrm>
          <a:prstGeom prst="rect">
            <a:avLst/>
          </a:prstGeom>
          <a:solidFill>
            <a:srgbClr val="1A4731"/>
          </a:solidFill>
          <a:ln w="25400">
            <a:solidFill>
              <a:srgbClr val="F5C5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C518"/>
                </a:solidFill>
              </a:rPr>
              <a:t>★ Ética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" y="2743200"/>
            <a:ext cx="2743200" cy="1463040"/>
          </a:xfrm>
          <a:prstGeom prst="rect">
            <a:avLst/>
          </a:prstGeom>
          <a:solidFill>
            <a:srgbClr val="1A4731"/>
          </a:solidFill>
          <a:ln w="25400">
            <a:solidFill>
              <a:srgbClr val="F5C5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32004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C518"/>
                </a:solidFill>
              </a:rPr>
              <a:t>★ Visão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91840" y="2743200"/>
            <a:ext cx="2743200" cy="1463040"/>
          </a:xfrm>
          <a:prstGeom prst="rect">
            <a:avLst/>
          </a:prstGeom>
          <a:solidFill>
            <a:srgbClr val="1A4731"/>
          </a:solidFill>
          <a:ln w="25400">
            <a:solidFill>
              <a:srgbClr val="F5C5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32004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C518"/>
                </a:solidFill>
              </a:rPr>
              <a:t>★ Liderança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09360" y="2743200"/>
            <a:ext cx="2743200" cy="1463040"/>
          </a:xfrm>
          <a:prstGeom prst="rect">
            <a:avLst/>
          </a:prstGeom>
          <a:solidFill>
            <a:srgbClr val="1A4731"/>
          </a:solidFill>
          <a:ln w="25400">
            <a:solidFill>
              <a:srgbClr val="F5C51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32004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C518"/>
                </a:solidFill>
              </a:rPr>
              <a:t>★ Inovação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</a:rPr>
              <a:t>Rio do Sul Mais Tech · SENAI · UC: Competências Socioemocionais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4731"/>
                </a:solidFill>
              </a:rPr>
              <a:t>Tipos de Negócios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8595360" cy="36576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822960"/>
            <a:ext cx="2103120" cy="3474720"/>
          </a:xfrm>
          <a:prstGeom prst="rect">
            <a:avLst/>
          </a:prstGeom>
          <a:solidFill>
            <a:srgbClr val="1A4731"/>
          </a:solidFill>
          <a:ln w="19050">
            <a:solidFill>
              <a:srgbClr val="F5C5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9144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C518"/>
                </a:solidFill>
              </a:rPr>
              <a:t>Produto Físico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82880" y="1645920"/>
            <a:ext cx="2103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Artesanato, alimentos, roupas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68880" y="822960"/>
            <a:ext cx="2103120" cy="3474720"/>
          </a:xfrm>
          <a:prstGeom prst="rect">
            <a:avLst/>
          </a:prstGeom>
          <a:solidFill>
            <a:srgbClr val="1A4731"/>
          </a:solidFill>
          <a:ln w="19050">
            <a:solidFill>
              <a:srgbClr val="F5C5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9144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C518"/>
                </a:solidFill>
              </a:rPr>
              <a:t>Serviço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68880" y="1645920"/>
            <a:ext cx="2103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Corte de cabelo, aulas, TI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822960"/>
            <a:ext cx="2103120" cy="3474720"/>
          </a:xfrm>
          <a:prstGeom prst="rect">
            <a:avLst/>
          </a:prstGeom>
          <a:solidFill>
            <a:srgbClr val="1A4731"/>
          </a:solidFill>
          <a:ln w="19050">
            <a:solidFill>
              <a:srgbClr val="F5C5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9144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C518"/>
                </a:solidFill>
              </a:rPr>
              <a:t>Digital/Online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1645920"/>
            <a:ext cx="2103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App, loja virtual, conteúdo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040880" y="822960"/>
            <a:ext cx="2103120" cy="3474720"/>
          </a:xfrm>
          <a:prstGeom prst="rect">
            <a:avLst/>
          </a:prstGeom>
          <a:solidFill>
            <a:srgbClr val="1A4731"/>
          </a:solidFill>
          <a:ln w="19050">
            <a:solidFill>
              <a:srgbClr val="F5C5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0" y="9144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C518"/>
                </a:solidFill>
              </a:rPr>
              <a:t>Social/Sustentável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040880" y="1645920"/>
            <a:ext cx="2103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Reciclagem, horta comunitária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</a:rPr>
              <a:t>Rio do Sul Mais Tech · SENAI · UC: Competências Socioemocionais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4731"/>
                </a:solidFill>
              </a:rPr>
              <a:t>Os 5R's da Sustentabilidade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8595360" cy="36576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8686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4731"/>
                </a:solidFill>
              </a:rPr>
              <a:t>Reduzir: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103120" y="86868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</a:rPr>
              <a:t>Consumir menos — compre só o necessário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52704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4731"/>
                </a:solidFill>
              </a:rPr>
              <a:t>Reutilizar: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103120" y="1527048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</a:rPr>
              <a:t>Dar nova vida aos objetos antes de descartar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185416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4731"/>
                </a:solidFill>
              </a:rPr>
              <a:t>Reciclar: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103120" y="2185416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</a:rPr>
              <a:t>Transformar resíduos em novos materiais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4731"/>
                </a:solidFill>
              </a:rPr>
              <a:t>Recusar: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103120" y="2843784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</a:rPr>
              <a:t>Dizer não ao que prejudica o ambiente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50215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4731"/>
                </a:solidFill>
              </a:rPr>
              <a:t>Reparar: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103120" y="3502152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</a:rPr>
              <a:t>Consertar em vez de jogar fora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</a:rPr>
              <a:t>Rio do Sul Mais Tech · SENAI · UC: Competências Socioemocionais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4731"/>
                </a:solidFill>
              </a:rPr>
              <a:t>Meio Ambiente e Sustentabilidade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8595360" cy="36576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731"/>
                </a:solidFill>
              </a:rPr>
              <a:t>Coleta Seletiva — Cores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Azul → Papel e papelão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645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Vermelho → Plástico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2103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Verde → Vidro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2560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Amarelo → Metal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3017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Marrom → Orgânico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3474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Cinza → Rejeito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731"/>
                </a:solidFill>
              </a:rPr>
              <a:t>Ciclo da Água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118872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1. Evaporação — calor transforma água em vapor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187452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2. Condensação — vapor forma nuvens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256032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3. Precipitação — chuva/neve/granizo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324612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4. Infiltração/Escoamento — volta aos rios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</a:rPr>
              <a:t>Rio do Sul Mais Tech · SENAI · UC: Competências Socioemocionais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4731"/>
                </a:solidFill>
              </a:rPr>
              <a:t>Como Identificar Oportunidades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8595360" cy="36576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1. Observe problemas do cotidiano — o que incomoda as pessoas?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7830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2. Pergunte — converse com moradores, lojistas e amigos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26517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3. Pesquise tendências — o que está crescendo no mercado?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520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4. Avalie: tenho habilidade para resolver? Há clientes dispostos a pagar?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</a:rPr>
              <a:t>Rio do Sul Mais Tech · SENAI · UC: Competências Socioemocionais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4731"/>
                </a:solidFill>
              </a:rPr>
              <a:t>Micro e Pequenas Empresas (MPEs)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8595360" cy="36576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731"/>
                </a:solidFill>
              </a:rPr>
              <a:t>O que são?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118872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</a:rPr>
              <a:t>Empresas com faturamento anual até R$ 4,8 milhões. Micro: até R$ 360 mil/ano. Pequena: até R$ 4,8 milhões/ano. Contam com regime tributário simplificado (Simples Nacional).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731"/>
                </a:solidFill>
              </a:rPr>
              <a:t>Por que importam?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11887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</a:rPr>
              <a:t>• Representam 99% das empresas brasileiras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17830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</a:rPr>
              <a:t>• Geram 54% dos empregos formais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23774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</a:rPr>
              <a:t>• Movimentam a economia local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29718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</a:rPr>
              <a:t>• São porta de entrada para jovens empreendedores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</a:rPr>
              <a:t>Rio do Sul Mais Tech · SENAI · UC: Competências Socioemocionais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4731"/>
                </a:solidFill>
              </a:rPr>
              <a:t>Plano de Negócios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8595360" cy="36576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8686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731"/>
                </a:solidFill>
              </a:rPr>
              <a:t>O que vou oferecer?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023360" y="8686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</a:rPr>
              <a:t>Produto ou serviço — descreva com clareza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52704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731"/>
                </a:solidFill>
              </a:rPr>
              <a:t>Para quem?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023360" y="152704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</a:rPr>
              <a:t>Defina seu público-alvo (idade, local, necessidade)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185416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731"/>
                </a:solidFill>
              </a:rPr>
              <a:t>Quanto custa produzir?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023360" y="218541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</a:rPr>
              <a:t>Some todos os gastos necessários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731"/>
                </a:solidFill>
              </a:rPr>
              <a:t>Como vou vender?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023360" y="2843784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</a:rPr>
              <a:t>Redes sociais, boca a boca, feira, loja?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50215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731"/>
                </a:solidFill>
              </a:rPr>
              <a:t>Qual meu diferencial?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023360" y="3502152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</a:rPr>
              <a:t>Por que me escolher e não outro?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</a:rPr>
              <a:t>Rio do Sul Mais Tech · SENAI · UC: Competências Socioemocionais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4731"/>
                </a:solidFill>
              </a:rPr>
              <a:t>Intraempreendedorismo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8595360" cy="36576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8229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</a:rPr>
              <a:t>Empreender dentro de uma organização — propor melhorias sem abrir o próprio negócio.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55448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</a:rPr>
              <a:t>★ Funcionário que cria novo processo reduzindo 30% do tempo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23774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</a:rPr>
              <a:t>★ Estudante que organiza horta na escola e reduz desperdício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320040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</a:rPr>
              <a:t>★ Colaborador que sugere app interno e melhora comunicação da equipe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</a:rPr>
              <a:t>Rio do Sul Mais Tech · SENAI · UC: Competências Socioemocionais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4731"/>
                </a:solidFill>
              </a:rPr>
              <a:t>Competências Socioemocionais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8595360" cy="36576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</a:rPr>
              <a:t>São habilidades não técnicas que permitem lidar com emoções, pessoas e situações desafiadoras.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</a:rPr>
              <a:t>• Autoconhecimento — saber quem você 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9933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</a:rPr>
              <a:t>• Autogestão — controlar emoções e comportamentos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2615184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</a:rPr>
              <a:t>• Empatia — compreender o outro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3236976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</a:rPr>
              <a:t>• Habilidades sociais — se relacionar bem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38587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</a:rPr>
              <a:t>• Tomada de decisão responsável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</a:rPr>
              <a:t>Rio do Sul Mais Tech · SENAI · UC: Competências Socioemocionais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4731"/>
                </a:solidFill>
              </a:rPr>
              <a:t>Autoconhecimento e Inteligência Emocional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8595360" cy="36576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731"/>
                </a:solidFill>
              </a:rPr>
              <a:t>O que é?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118872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</a:rPr>
              <a:t>Autoconhecimento é saber suas forças, fraquezas, valores e emoções. Quem se conhece faz melhores escolhas e lida melhor com situações difíceis.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731"/>
                </a:solidFill>
              </a:rPr>
              <a:t>Como desenvolver?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11887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</a:rPr>
              <a:t>• Pratique a reflexão diária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17830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</a:rPr>
              <a:t>• Peça feedbacks honestos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23774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</a:rPr>
              <a:t>• Observe suas reações em situações difíceis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29718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</a:rPr>
              <a:t>• Escreva um diário de emoções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</a:rPr>
              <a:t>Rio do Sul Mais Tech · SENAI · UC: Competências Socioemocionais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4731"/>
                </a:solidFill>
              </a:rPr>
              <a:t>Comunicar e Colaborar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8595360" cy="36576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• Comunicação assertiva: expressar ideias com clareza e respeito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78308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• Escuta ativa: ouvir com atenção sem interromper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26517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• Colaboração: trabalhar em equipe valorizando as diferenças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5204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• Resolução de conflitos: buscar soluções ganha-ganha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</a:rPr>
              <a:t>Rio do Sul Mais Tech · SENAI · UC: Competências Socioemocionais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4731"/>
                </a:solidFill>
              </a:rPr>
              <a:t>Ética no Mundo do Trabalho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8595360" cy="36576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731"/>
                </a:solidFill>
              </a:rPr>
              <a:t>Condutas Éticas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11887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</a:rPr>
              <a:t>✔ Cumprir prazos e compromissos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7830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</a:rPr>
              <a:t>✔ Ser honesto com clientes e colegas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23774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</a:rPr>
              <a:t>✔ Respeitar diferenças e diversidade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29718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</a:rPr>
              <a:t>✔ Reconhecer erros e corrigi-los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Condutas Antiéticas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11887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</a:rPr>
              <a:t>✗ Plagiar ideias de terceiros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17830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</a:rPr>
              <a:t>✗ Discriminar colegas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23774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</a:rPr>
              <a:t>✗ Enganar clientes sobre o produto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29718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</a:rPr>
              <a:t>✗ Usar informações privilegiadas de forma errada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</a:rPr>
              <a:t>Rio do Sul Mais Tech · SENAI · UC: Competências Socioemocionais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4731"/>
                </a:solidFill>
              </a:rPr>
              <a:t>Resiliência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8595360" cy="36576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868680"/>
            <a:ext cx="8595360" cy="68580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6868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5C518"/>
                </a:solidFill>
              </a:rPr>
              <a:t>"Resiliência não é não cair — é saber se levantar mais forte." — Viktor Frankl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</a:rPr>
              <a:t>Resiliência é a capacidade de superar dificuldades, adaptar-se a mudanças e continuar em frente diante dos desafios.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4231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731"/>
                </a:solidFill>
              </a:rPr>
              <a:t>Como desenvolver: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8346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</a:rPr>
              <a:t>• Encare erros como oportunidades de aprendizado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3337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</a:rPr>
              <a:t>• Busque apoio — ninguém cresce sozinho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38404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</a:rPr>
              <a:t>• Cultive pensamentos positivos e metas claras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</a:rPr>
              <a:t>Rio do Sul Mais Tech · SENAI · UC: Competências Socioemocionais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4731"/>
                </a:solidFill>
              </a:rPr>
              <a:t>As 5 Dimensões da Inteligência Emocional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8595360" cy="36576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804672"/>
            <a:ext cx="8778240" cy="658368"/>
          </a:xfrm>
          <a:prstGeom prst="rect">
            <a:avLst/>
          </a:prstGeom>
          <a:solidFill>
            <a:srgbClr val="E8F5E9"/>
          </a:solidFill>
          <a:ln w="6350">
            <a:solidFill>
              <a:srgbClr val="1A47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412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731"/>
                </a:solidFill>
              </a:rPr>
              <a:t>1. Autoconhecimento: 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34640" y="84124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Saber o que sente e por quê — 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577840" y="84124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</a:rPr>
              <a:t>"perceber nervosismo antes de apresentação"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" y="1554480"/>
            <a:ext cx="8778240" cy="658368"/>
          </a:xfrm>
          <a:prstGeom prst="rect">
            <a:avLst/>
          </a:prstGeom>
          <a:solidFill>
            <a:srgbClr val="F0FFF4"/>
          </a:solidFill>
          <a:ln w="6350">
            <a:solidFill>
              <a:srgbClr val="1A47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59105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731"/>
                </a:solidFill>
              </a:rPr>
              <a:t>2. Autocontrole: 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34640" y="159105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Gerenciar emoções negativas — 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77840" y="159105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</a:rPr>
              <a:t>"respirar fundo antes de responder com raiva"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" y="2304288"/>
            <a:ext cx="8778240" cy="658368"/>
          </a:xfrm>
          <a:prstGeom prst="rect">
            <a:avLst/>
          </a:prstGeom>
          <a:solidFill>
            <a:srgbClr val="E8F5E9"/>
          </a:solidFill>
          <a:ln w="6350">
            <a:solidFill>
              <a:srgbClr val="1A47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34086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731"/>
                </a:solidFill>
              </a:rPr>
              <a:t>3. Automotivação: 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34640" y="234086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Manter foco diante de dificuldades — 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77840" y="2340864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</a:rPr>
              <a:t>"continuar estudando mesmo com preguiça"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" y="3054096"/>
            <a:ext cx="8778240" cy="658368"/>
          </a:xfrm>
          <a:prstGeom prst="rect">
            <a:avLst/>
          </a:prstGeom>
          <a:solidFill>
            <a:srgbClr val="F0FFF4"/>
          </a:solidFill>
          <a:ln w="6350">
            <a:solidFill>
              <a:srgbClr val="1A473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09067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731"/>
                </a:solidFill>
              </a:rPr>
              <a:t>4. Empatia: 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34640" y="3090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Se colocar no lugar do outro — 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77840" y="309067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</a:rPr>
              <a:t>"perceber colega triste e oferecer ajuda"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2880" y="3803904"/>
            <a:ext cx="8778240" cy="658368"/>
          </a:xfrm>
          <a:prstGeom prst="rect">
            <a:avLst/>
          </a:prstGeom>
          <a:solidFill>
            <a:srgbClr val="E8F5E9"/>
          </a:solidFill>
          <a:ln w="6350">
            <a:solidFill>
              <a:srgbClr val="1A473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8404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731"/>
                </a:solidFill>
              </a:rPr>
              <a:t>5. Habilidades Sociais: 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834640" y="38404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Relacionar-se e lidar com conflitos — 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77840" y="38404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</a:rPr>
              <a:t>"mediar discussão entre colegas"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</a:rPr>
              <a:t>Rio do Sul Mais Tech · SENAI · UC: Competências Socioemocionais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4731"/>
                </a:solidFill>
              </a:rPr>
              <a:t>Liderança: Muito Mais do que Dar Ordens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8595360" cy="36576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772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4731"/>
                </a:solidFill>
              </a:rPr>
              <a:t>Liderança é influenciar pessoas em direção a um objetivo comum.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2880" y="1234440"/>
            <a:ext cx="2743200" cy="41148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12344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Estilo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017520" y="1234440"/>
            <a:ext cx="3291840" cy="41148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0" y="12344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Característica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1234440"/>
            <a:ext cx="2560320" cy="41148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2344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Melhor para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82880" y="1691640"/>
            <a:ext cx="2743200" cy="530352"/>
          </a:xfrm>
          <a:prstGeom prst="rect">
            <a:avLst/>
          </a:prstGeom>
          <a:solidFill>
            <a:srgbClr val="E8F5E9"/>
          </a:solidFill>
          <a:ln w="6350">
            <a:solidFill>
              <a:srgbClr val="1A47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" y="1691640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4731"/>
                </a:solidFill>
              </a:rPr>
              <a:t>Democrático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017520" y="1691640"/>
            <a:ext cx="3291840" cy="530352"/>
          </a:xfrm>
          <a:prstGeom prst="rect">
            <a:avLst/>
          </a:prstGeom>
          <a:solidFill>
            <a:srgbClr val="E8F5E9"/>
          </a:solidFill>
          <a:ln w="6350">
            <a:solidFill>
              <a:srgbClr val="1A473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1691640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Ouve a equipe antes de decidir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1691640"/>
            <a:ext cx="2560320" cy="530352"/>
          </a:xfrm>
          <a:prstGeom prst="rect">
            <a:avLst/>
          </a:prstGeom>
          <a:solidFill>
            <a:srgbClr val="E8F5E9"/>
          </a:solidFill>
          <a:ln w="6350">
            <a:solidFill>
              <a:srgbClr val="1A473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69164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Projetos criativos e inovação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82880" y="2286000"/>
            <a:ext cx="2743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A473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2286000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4731"/>
                </a:solidFill>
              </a:rPr>
              <a:t>Situacional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017520" y="2286000"/>
            <a:ext cx="32918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A47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0" y="2286000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Adapta o estilo à situação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0" y="2286000"/>
            <a:ext cx="2560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A47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228600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Equipes com perfis variados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82880" y="2880360"/>
            <a:ext cx="2743200" cy="530352"/>
          </a:xfrm>
          <a:prstGeom prst="rect">
            <a:avLst/>
          </a:prstGeom>
          <a:solidFill>
            <a:srgbClr val="E8F5E9"/>
          </a:solidFill>
          <a:ln w="6350">
            <a:solidFill>
              <a:srgbClr val="1A473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" y="2880360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4731"/>
                </a:solidFill>
              </a:rPr>
              <a:t>Coach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017520" y="2880360"/>
            <a:ext cx="3291840" cy="530352"/>
          </a:xfrm>
          <a:prstGeom prst="rect">
            <a:avLst/>
          </a:prstGeom>
          <a:solidFill>
            <a:srgbClr val="E8F5E9"/>
          </a:solidFill>
          <a:ln w="6350">
            <a:solidFill>
              <a:srgbClr val="1A473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17520" y="2880360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Desenvolve as pessoas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0" y="2880360"/>
            <a:ext cx="2560320" cy="530352"/>
          </a:xfrm>
          <a:prstGeom prst="rect">
            <a:avLst/>
          </a:prstGeom>
          <a:solidFill>
            <a:srgbClr val="E8F5E9"/>
          </a:solidFill>
          <a:ln w="6350">
            <a:solidFill>
              <a:srgbClr val="1A473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288036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Equipes em formação e crescimento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82880" y="3474720"/>
            <a:ext cx="2743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A473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2880" y="3474720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4731"/>
                </a:solidFill>
              </a:rPr>
              <a:t>Autocrático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017520" y="3474720"/>
            <a:ext cx="32918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A473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17520" y="3474720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Decide sozinho rapidamente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00800" y="3474720"/>
            <a:ext cx="2560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A473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347472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Crises urgentes e emergências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</a:rPr>
              <a:t>Rio do Sul Mais Tech · SENAI · UC: Competências Socioemocionais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4731"/>
                </a:solidFill>
              </a:rPr>
              <a:t>Legislação Ambiental — O que o Empreendedor Precisa Saber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8595360" cy="36576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822960"/>
            <a:ext cx="2103120" cy="3017520"/>
          </a:xfrm>
          <a:prstGeom prst="rect">
            <a:avLst/>
          </a:prstGeom>
          <a:solidFill>
            <a:srgbClr val="1A4731"/>
          </a:solidFill>
          <a:ln w="19050">
            <a:solidFill>
              <a:srgbClr val="F5C5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91440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C518"/>
                </a:solidFill>
              </a:rPr>
              <a:t>Código Florestal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5C518"/>
                </a:solidFill>
              </a:rPr>
              <a:t>(Lei 12.651/2012)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2880" y="196596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Protege vegetação nativa 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áreas de preservação permanente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77440" y="822960"/>
            <a:ext cx="2103120" cy="3017520"/>
          </a:xfrm>
          <a:prstGeom prst="rect">
            <a:avLst/>
          </a:prstGeom>
          <a:solidFill>
            <a:srgbClr val="1A4731"/>
          </a:solidFill>
          <a:ln w="19050">
            <a:solidFill>
              <a:srgbClr val="F5C5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91440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C518"/>
                </a:solidFill>
              </a:rPr>
              <a:t>PNMA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5C518"/>
                </a:solidFill>
              </a:rPr>
              <a:t>(Lei 6.938/1981)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77440" y="196596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Base da legislação ambiental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brasileira — define diretrizes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822960"/>
            <a:ext cx="2103120" cy="3017520"/>
          </a:xfrm>
          <a:prstGeom prst="rect">
            <a:avLst/>
          </a:prstGeom>
          <a:solidFill>
            <a:srgbClr val="1A4731"/>
          </a:solidFill>
          <a:ln w="19050">
            <a:solidFill>
              <a:srgbClr val="F5C5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91440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C518"/>
                </a:solidFill>
              </a:rPr>
              <a:t>Crimes Ambientais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5C518"/>
                </a:solidFill>
              </a:rPr>
              <a:t>(Lei 9.605/1998)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196596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Define crimes e punições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por danos ao meio ambiente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822960"/>
            <a:ext cx="2103120" cy="3017520"/>
          </a:xfrm>
          <a:prstGeom prst="rect">
            <a:avLst/>
          </a:prstGeom>
          <a:solidFill>
            <a:srgbClr val="1A4731"/>
          </a:solidFill>
          <a:ln w="19050">
            <a:solidFill>
              <a:srgbClr val="F5C5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91440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C518"/>
                </a:solidFill>
              </a:rPr>
              <a:t>PNRS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5C518"/>
                </a:solidFill>
              </a:rPr>
              <a:t>(Lei 12.305/2010)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66560" y="196596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Regula descarte de lixo 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institui logística reversa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" y="3977640"/>
            <a:ext cx="8778240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" y="397764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Descumprir a lei ambiental = multas milionárias + fechamento do negócio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</a:rPr>
              <a:t>Rio do Sul Mais Tech · SENAI · UC: Competências Socioemocionais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4731"/>
                </a:solidFill>
              </a:rPr>
              <a:t>Consciência Ambiental: A3P e Primavera Silenciosa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8595360" cy="36576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8229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731"/>
                </a:solidFill>
              </a:rPr>
              <a:t>A3P — Agenda Ambiental na Administração Pública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23444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• Uso racional de recursos naturais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673352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• Gestão de resíduos sólidos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2112264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• Qualidade de vida no trabalho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2551176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• Capacitação e sensibilização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990088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• Licitações sustentáveis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342900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• Construções sustentáveis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37947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4731"/>
                </a:solidFill>
              </a:rPr>
              <a:t>"Empresas parceiras do governo precisam ser sustentáveis"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8229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731"/>
                </a:solidFill>
              </a:rPr>
              <a:t>Primavera Silenciosa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234440"/>
            <a:ext cx="40233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Rachel Carson, 1962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Denunciou os efeitos devastadores do DDT e pesticidas sobre os ecossistemas.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"Uma primavera sem pássaros."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Influenciou a criação das primeiras leis ambientais no mundo e deu origem ao movimento ambientalista moderno.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</a:rPr>
              <a:t>Rio do Sul Mais Tech · SENAI · UC: Competências Socioemocionais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4731"/>
                </a:solidFill>
              </a:rPr>
              <a:t>Ferramentas para Identificar Oportunidades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8595360" cy="36576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8229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731"/>
                </a:solidFill>
              </a:rPr>
              <a:t>Técnica dos 5 Porquês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234440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Por que clientes reclamam? → Demora no atendimento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709928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Por que demora? → Poucos atendentes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2185416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Por que poucos? → Sem dinheiro para contratar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2660904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Por que sem dinheiro? → Preços mal calculados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3136392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A4731"/>
                </a:solidFill>
              </a:rPr>
              <a:t>"O verdadeiro problema aparece na 5ª resposta!"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8229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731"/>
                </a:solidFill>
              </a:rPr>
              <a:t>Análise SWOT / FOFA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1280160"/>
            <a:ext cx="1920240" cy="118872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28016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FORÇAS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(interno positivo)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0" y="1280160"/>
            <a:ext cx="1920240" cy="11887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0" y="128016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FRAQUEZAS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(interno negativo)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2560320"/>
            <a:ext cx="1920240" cy="118872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256032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OPORTUNIDADES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(externo positivo)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0" y="2560320"/>
            <a:ext cx="1920240" cy="1188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256032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AMEAÇAS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(externo negativo)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</a:rPr>
              <a:t>Rio do Sul Mais Tech · SENAI · UC: Competências Socioemocionais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4731"/>
                </a:solidFill>
              </a:rPr>
              <a:t>Ferramentas de Planejamento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8595360" cy="36576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731"/>
                </a:solidFill>
              </a:rPr>
              <a:t>Metas SMART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11480" cy="384048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3444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C518"/>
                </a:solidFill>
              </a:rPr>
              <a:t>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23444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Específica — o que exatamente?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691640"/>
            <a:ext cx="411480" cy="384048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69164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C518"/>
                </a:solidFill>
              </a:rPr>
              <a:t>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169164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Mensurável — como medir?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148840"/>
            <a:ext cx="411480" cy="384048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214884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C518"/>
                </a:solidFill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214884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Alcançável — é possível?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606040"/>
            <a:ext cx="411480" cy="384048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260604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C518"/>
                </a:solidFill>
              </a:rPr>
              <a:t>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260604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Relevante — por que importa?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063240"/>
            <a:ext cx="411480" cy="384048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306324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C518"/>
                </a:solidFill>
              </a:rPr>
              <a:t>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306324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Temporal — até quando?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" y="36118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4731"/>
                </a:solidFill>
              </a:rPr>
              <a:t>Exemplo: Vender 20 potes de geleia orgânica por mês em feiras do bairro até dezembro.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731"/>
                </a:solidFill>
              </a:rPr>
              <a:t>Business Model Canvas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0" y="12344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1. Segmentos de clientes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1645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2. Proposta de valor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2057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3. Canais de distribuição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2468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4. Relacionamento com clientes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0" y="2880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5. Fontes de receita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0" y="3291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6. Recursos-chave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54880" y="3703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7. Atividades-chave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54880" y="4114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8. Parcerias principais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54880" y="4526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9. Estrutura de custos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</a:rPr>
              <a:t>Rio do Sul Mais Tech · SENAI · UC: Competências Socioemocionais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4731"/>
                </a:solidFill>
              </a:rPr>
              <a:t>Plano Financeiro: Quanto Vai Custar e Ganhar?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8595360" cy="36576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80467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731"/>
                </a:solidFill>
              </a:rPr>
              <a:t>Tipos de Custos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468880" cy="384048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887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Tipo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34640" y="1188720"/>
            <a:ext cx="2468880" cy="384048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8" name="Text 6"/>
          <p:cNvSpPr/>
          <p:nvPr/>
        </p:nvSpPr>
        <p:spPr>
          <a:xfrm>
            <a:off x="2834640" y="11887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Exemplos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77840" y="1188720"/>
            <a:ext cx="2468880" cy="384048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10" name="Text 8"/>
          <p:cNvSpPr/>
          <p:nvPr/>
        </p:nvSpPr>
        <p:spPr>
          <a:xfrm>
            <a:off x="5577840" y="11887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Característica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600200"/>
            <a:ext cx="2468880" cy="457200"/>
          </a:xfrm>
          <a:prstGeom prst="rect">
            <a:avLst/>
          </a:prstGeom>
          <a:solidFill>
            <a:srgbClr val="E8F5E9"/>
          </a:solidFill>
          <a:ln w="5080">
            <a:solidFill>
              <a:srgbClr val="1A47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600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Fixo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34640" y="1600200"/>
            <a:ext cx="2468880" cy="457200"/>
          </a:xfrm>
          <a:prstGeom prst="rect">
            <a:avLst/>
          </a:prstGeom>
          <a:solidFill>
            <a:srgbClr val="E8F5E9"/>
          </a:solidFill>
          <a:ln w="5080">
            <a:solidFill>
              <a:srgbClr val="1A473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1600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Aluguel, salários, internet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77840" y="1600200"/>
            <a:ext cx="2468880" cy="457200"/>
          </a:xfrm>
          <a:prstGeom prst="rect">
            <a:avLst/>
          </a:prstGeom>
          <a:solidFill>
            <a:srgbClr val="E8F5E9"/>
          </a:solidFill>
          <a:ln w="5080">
            <a:solidFill>
              <a:srgbClr val="1A473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1600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Não muda com a produção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103120"/>
            <a:ext cx="246888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1A473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103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Variável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834640" y="2103120"/>
            <a:ext cx="246888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1A47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34640" y="2103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Matéria-prima, embalagens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577840" y="2103120"/>
            <a:ext cx="246888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1A47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0" y="2103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Aumenta conforme a produção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606040"/>
            <a:ext cx="2468880" cy="457200"/>
          </a:xfrm>
          <a:prstGeom prst="rect">
            <a:avLst/>
          </a:prstGeom>
          <a:solidFill>
            <a:srgbClr val="E8F5E9"/>
          </a:solidFill>
          <a:ln w="5080">
            <a:solidFill>
              <a:srgbClr val="1A473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606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Inicial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834640" y="2606040"/>
            <a:ext cx="2468880" cy="457200"/>
          </a:xfrm>
          <a:prstGeom prst="rect">
            <a:avLst/>
          </a:prstGeom>
          <a:solidFill>
            <a:srgbClr val="E8F5E9"/>
          </a:solidFill>
          <a:ln w="5080">
            <a:solidFill>
              <a:srgbClr val="1A473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34640" y="2606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Equipamentos, reforma, licenças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577840" y="2606040"/>
            <a:ext cx="2468880" cy="457200"/>
          </a:xfrm>
          <a:prstGeom prst="rect">
            <a:avLst/>
          </a:prstGeom>
          <a:solidFill>
            <a:srgbClr val="E8F5E9"/>
          </a:solidFill>
          <a:ln w="5080">
            <a:solidFill>
              <a:srgbClr val="1A473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2606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Pago apenas para abrir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4320" y="320040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731"/>
                </a:solidFill>
              </a:rPr>
              <a:t>DRE Simplificado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74320" y="3611880"/>
            <a:ext cx="6400800" cy="164592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" y="3611880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Receita Total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43600" y="361188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R$ 5.000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3794760"/>
            <a:ext cx="6400800" cy="164592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" y="3794760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(−) Custos Variáveis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43600" y="379476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R$ 2.000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3977640"/>
            <a:ext cx="6400800" cy="16459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7" name="Text 35"/>
          <p:cNvSpPr/>
          <p:nvPr/>
        </p:nvSpPr>
        <p:spPr>
          <a:xfrm>
            <a:off x="320040" y="3977640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C518"/>
                </a:solidFill>
              </a:rPr>
              <a:t>= Margem de Contribuição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943600" y="397764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C518"/>
                </a:solidFill>
              </a:rPr>
              <a:t>R$ 3.000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4160520"/>
            <a:ext cx="6400800" cy="164592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40" name="Text 38"/>
          <p:cNvSpPr/>
          <p:nvPr/>
        </p:nvSpPr>
        <p:spPr>
          <a:xfrm>
            <a:off x="320040" y="4160520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(−) Custos Fixos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943600" y="416052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R$ 2.500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4320" y="4343400"/>
            <a:ext cx="6400800" cy="164592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43" name="Text 41"/>
          <p:cNvSpPr/>
          <p:nvPr/>
        </p:nvSpPr>
        <p:spPr>
          <a:xfrm>
            <a:off x="320040" y="4343400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C518"/>
                </a:solidFill>
              </a:rPr>
              <a:t>= Lucro Líquido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943600" y="434340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C518"/>
                </a:solidFill>
              </a:rPr>
              <a:t>R$ 500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</a:rPr>
              <a:t>Rio do Sul Mais Tech · SENAI · UC: Competências Socioemocionais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4731"/>
                </a:solidFill>
              </a:rPr>
              <a:t>Ponto de Equilíbrio: Quando Deixo de Ter Prejuízo?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8595360" cy="36576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80467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</a:rPr>
              <a:t>É quando suas receitas cobrem TODOS os custos — nem lucro nem prejuízo.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8412480" cy="59436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80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C518"/>
                </a:solidFill>
              </a:rPr>
              <a:t>Ponto de Equilíbrio  =  Custos Fixos  ÷  (1  −  Custos Variáveis / Receita Total)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731"/>
                </a:solidFill>
              </a:rPr>
              <a:t>Exemplo Prático: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423160"/>
            <a:ext cx="8412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</a:rPr>
              <a:t>Custos fixos: R$ 1.000/mês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</a:rPr>
              <a:t>Produto vendido por: R$ 10,00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</a:rPr>
              <a:t>Custo variável por unidade: R$ 4,00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</a:rPr>
              <a:t>Margem de contribuição: R$ 6,00 por unidade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</a:rPr>
              <a:t>→ Ponto de equilíbrio: 1.000 ÷ 6 ≈ 167 unidades/mês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4160520"/>
            <a:ext cx="8412480" cy="41148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4160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4731"/>
                </a:solidFill>
              </a:rPr>
              <a:t>Dica: Separe SEMPRE o dinheiro pessoal do dinheiro da empresa!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</a:rPr>
              <a:t>Rio do Sul Mais Tech · SENAI · UC: Competências Socioemocionais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4731"/>
                </a:solidFill>
              </a:rPr>
              <a:t>Negociação: o Que Todo Empreendedor Precisa Saber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8595360" cy="36576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731"/>
                </a:solidFill>
              </a:rPr>
              <a:t>Pontos Críticos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2344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</a:rPr>
              <a:t>✗ Falta de preparação prévia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8745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</a:rPr>
              <a:t>✗ Ceder rápido demais por ansiedade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25146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</a:rPr>
              <a:t>✗ Deixar a emoção dominar a razão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31546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</a:rPr>
              <a:t>✗ Não saber quando recuar ou encerrar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731"/>
                </a:solidFill>
              </a:rPr>
              <a:t>Técnicas de Negociação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12344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731"/>
                </a:solidFill>
              </a:rPr>
              <a:t>✔ Escuta ativa: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0" y="12344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Ouvir para entender, não para responder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19659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731"/>
                </a:solidFill>
              </a:rPr>
              <a:t>✔ BATNA: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75120" y="196596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Melhor alternativa ao acordo — conheça a sua!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26974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731"/>
                </a:solidFill>
              </a:rPr>
              <a:t>✔ Ancoragem: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75120" y="269748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Quem propõe primeiro influencia mais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34290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731"/>
                </a:solidFill>
              </a:rPr>
              <a:t>✔ Ganha-ganha: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75120" y="34290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Busque acordos que beneficiem os dois lados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</a:rPr>
              <a:t>Rio do Sul Mais Tech · SENAI · UC: Competências Socioemocionais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4731"/>
                </a:solidFill>
              </a:rPr>
              <a:t>Virtudes do Empreendedor e o Pitch Final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8595360" cy="36576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731"/>
                </a:solidFill>
              </a:rPr>
              <a:t>Virtudes do Empreendedor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2344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</a:rPr>
              <a:t>★ Resiliência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664208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</a:rPr>
              <a:t>★ Perseverança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2093976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</a:rPr>
              <a:t>★ Criatividade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2523744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</a:rPr>
              <a:t>★ Humildade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295351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</a:rPr>
              <a:t>★ Disciplina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338328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</a:rPr>
              <a:t>★ Generosidade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3813048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</a:rPr>
              <a:t>★ Comprometimento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" y="4242816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</a:rPr>
              <a:t>★ Visão de longo prazo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731"/>
                </a:solidFill>
              </a:rPr>
              <a:t>Estrutura do Pitch (5 minutos)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1234440"/>
            <a:ext cx="1097280" cy="41148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2344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C518"/>
                </a:solidFill>
              </a:rPr>
              <a:t>0:00–0:30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0" y="12344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Abertura — quem é você?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1709928"/>
            <a:ext cx="1097280" cy="41148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70992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C518"/>
                </a:solidFill>
              </a:rPr>
              <a:t>0:30–1:30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0" y="1709928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Problema — o que você resolve?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185416"/>
            <a:ext cx="1097280" cy="41148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2185416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C518"/>
                </a:solidFill>
              </a:rPr>
              <a:t>1:30–2:30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0" y="2185416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Solução — como você resolve?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2660904"/>
            <a:ext cx="1097280" cy="41148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2660904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C518"/>
                </a:solidFill>
              </a:rPr>
              <a:t>2:30–3:30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0" y="2660904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Clientes e receita — quem paga?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3136392"/>
            <a:ext cx="1097280" cy="41148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313639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C518"/>
                </a:solidFill>
              </a:rPr>
              <a:t>3:30–4:30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0" y="31363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Diferenciais — por que você?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3611880"/>
            <a:ext cx="1097280" cy="41148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36118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C518"/>
                </a:solidFill>
              </a:rPr>
              <a:t>4:30–5:00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43600" y="36118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Chamada para ação — o que precisa?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</a:rPr>
              <a:t>Rio do Sul Mais Tech · SENAI · UC: Competências Socioemocionais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A47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O que aprendemos nesta UC?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Os 5R's e sustentabilidade ambiental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898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O que é empreendedorismo e o perfil do empreendedor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77393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Tipos de negócios e como identificar oportunidades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5798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Plano de negócios, Canvas e metas SMART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5420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Micro e pequenas empresas — seu papel na economia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Intraempreendedorismo — inovar de dentro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3101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Inteligência emocional e competências socioemocionais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69417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Ética, negociação, liderança e resiliência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07822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Legislação ambiental e responsabilidade do empreendedor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389120"/>
            <a:ext cx="8229600" cy="50292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389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4731"/>
                </a:solidFill>
              </a:rPr>
              <a:t>Você está pronto para empreender com responsabilidade!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</a:rPr>
              <a:t>Rio do Sul Mais Tech · SENAI · UC: Competências Socioemocionais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2026-08-21T11:44:35Z</dcterms:created>
  <dcterms:modified xsi:type="dcterms:W3CDTF">2026-08-21T11:44:35Z</dcterms:modified>
</cp:coreProperties>
</file>