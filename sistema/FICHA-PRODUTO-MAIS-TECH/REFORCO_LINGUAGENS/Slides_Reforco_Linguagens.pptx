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2926080"/>
          </a:xfrm>
          <a:prstGeom prst="rect">
            <a:avLst/>
          </a:prstGeom>
          <a:solidFill>
            <a:srgbClr val="234D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de Linguagens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· SENAI · Iniciação Profissional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22860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718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Horária: 63h  |  Modalidade: Presencial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09728"/>
            <a:ext cx="4114800" cy="46863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7315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📚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137160" y="2743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· Escrever · Comunicar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" y="342900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Desenvolvendo habilidades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linguagem para a vida,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estudo e o trabalho.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45720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Rio do Sul Mais Tech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389120" y="1280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92040" y="1280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SENAI — Serviço Nacional de Aprendizagem Industrial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2011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🏙️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Prefeitura Municipal de Rio do Sul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27432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9204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Iniciação Profissional para jovens do 8° e 9° ano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34747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🌱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92040" y="34747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técnica, cidadã e humana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da Unidade Curricular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286000" cy="43891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97480" y="1051560"/>
            <a:ext cx="6080760" cy="438912"/>
          </a:xfrm>
          <a:prstGeom prst="rect">
            <a:avLst/>
          </a:prstGeom>
          <a:solidFill>
            <a:srgbClr val="234D3C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051560"/>
            <a:ext cx="60807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Reforço de Linguagens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2286000" cy="43891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57276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97480" y="1572768"/>
            <a:ext cx="6080760" cy="438912"/>
          </a:xfrm>
          <a:prstGeom prst="rect">
            <a:avLst/>
          </a:prstGeom>
          <a:solidFill>
            <a:srgbClr val="234D3C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1572768"/>
            <a:ext cx="60807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093976"/>
            <a:ext cx="2286000" cy="43891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09397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Total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97480" y="2093976"/>
            <a:ext cx="6080760" cy="438912"/>
          </a:xfrm>
          <a:prstGeom prst="rect">
            <a:avLst/>
          </a:prstGeom>
          <a:solidFill>
            <a:srgbClr val="234D3C"/>
          </a:solidFill>
          <a:ln/>
        </p:spPr>
      </p:sp>
      <p:sp>
        <p:nvSpPr>
          <p:cNvPr id="16" name="Text 14"/>
          <p:cNvSpPr/>
          <p:nvPr/>
        </p:nvSpPr>
        <p:spPr>
          <a:xfrm>
            <a:off x="2697480" y="2093976"/>
            <a:ext cx="60807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horas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2286000" cy="43891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6151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Presencial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97480" y="2615184"/>
            <a:ext cx="6080760" cy="438912"/>
          </a:xfrm>
          <a:prstGeom prst="rect">
            <a:avLst/>
          </a:prstGeom>
          <a:solidFill>
            <a:srgbClr val="234D3C"/>
          </a:solidFill>
          <a:ln/>
        </p:spPr>
      </p:sp>
      <p:sp>
        <p:nvSpPr>
          <p:cNvPr id="20" name="Text 18"/>
          <p:cNvSpPr/>
          <p:nvPr/>
        </p:nvSpPr>
        <p:spPr>
          <a:xfrm>
            <a:off x="2697480" y="2615184"/>
            <a:ext cx="60807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horas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136392"/>
            <a:ext cx="2286000" cy="43891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13639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Público-alvo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97480" y="3136392"/>
            <a:ext cx="6080760" cy="438912"/>
          </a:xfrm>
          <a:prstGeom prst="rect">
            <a:avLst/>
          </a:prstGeom>
          <a:solidFill>
            <a:srgbClr val="234D3C"/>
          </a:solidFill>
          <a:ln/>
        </p:spPr>
      </p:sp>
      <p:sp>
        <p:nvSpPr>
          <p:cNvPr id="24" name="Text 22"/>
          <p:cNvSpPr/>
          <p:nvPr/>
        </p:nvSpPr>
        <p:spPr>
          <a:xfrm>
            <a:off x="2697480" y="3136392"/>
            <a:ext cx="60807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8° e 9° ano do Ensino Fundamental (12–15 anos)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2286000" cy="43891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6576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97480" y="3657600"/>
            <a:ext cx="6080760" cy="438912"/>
          </a:xfrm>
          <a:prstGeom prst="rect">
            <a:avLst/>
          </a:prstGeom>
          <a:solidFill>
            <a:srgbClr val="234D3C"/>
          </a:solidFill>
          <a:ln/>
        </p:spPr>
      </p:sp>
      <p:sp>
        <p:nvSpPr>
          <p:cNvPr id="28" name="Text 26"/>
          <p:cNvSpPr/>
          <p:nvPr/>
        </p:nvSpPr>
        <p:spPr>
          <a:xfrm>
            <a:off x="2697480" y="3657600"/>
            <a:ext cx="60807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Presencial — LabTEC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4178808"/>
            <a:ext cx="2286000" cy="43891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1788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97480" y="4178808"/>
            <a:ext cx="6080760" cy="438912"/>
          </a:xfrm>
          <a:prstGeom prst="rect">
            <a:avLst/>
          </a:prstGeom>
          <a:solidFill>
            <a:srgbClr val="234D3C"/>
          </a:solidFill>
          <a:ln/>
        </p:spPr>
      </p:sp>
      <p:sp>
        <p:nvSpPr>
          <p:cNvPr id="32" name="Text 30"/>
          <p:cNvSpPr/>
          <p:nvPr/>
        </p:nvSpPr>
        <p:spPr>
          <a:xfrm>
            <a:off x="2697480" y="4178808"/>
            <a:ext cx="6080760" cy="4389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/ Prefeitura Municipal de Rio do Sul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Professor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194560" cy="2194560"/>
          </a:xfrm>
          <a:prstGeom prst="ellipse">
            <a:avLst/>
          </a:prstGeom>
          <a:solidFill>
            <a:srgbClr val="234D3C"/>
          </a:solidFill>
          <a:ln w="381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21945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👤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2926080" y="1005840"/>
            <a:ext cx="5760720" cy="640080"/>
          </a:xfrm>
          <a:prstGeom prst="roundRect">
            <a:avLst>
              <a:gd name="adj" fmla="val 14286"/>
            </a:avLst>
          </a:prstGeom>
          <a:solidFill>
            <a:srgbClr val="234D3C"/>
          </a:solidFill>
          <a:ln/>
        </p:spPr>
      </p:sp>
      <p:sp>
        <p:nvSpPr>
          <p:cNvPr id="8" name="Text 6"/>
          <p:cNvSpPr/>
          <p:nvPr/>
        </p:nvSpPr>
        <p:spPr>
          <a:xfrm>
            <a:off x="3063240" y="1051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 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51960" y="1051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Professor]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1755648"/>
            <a:ext cx="5760720" cy="640080"/>
          </a:xfrm>
          <a:prstGeom prst="roundRect">
            <a:avLst>
              <a:gd name="adj" fmla="val 14286"/>
            </a:avLst>
          </a:prstGeom>
          <a:solidFill>
            <a:srgbClr val="234D3C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180136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Formação: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18013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[Formação Acadêmica]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26080" y="2505456"/>
            <a:ext cx="5760720" cy="640080"/>
          </a:xfrm>
          <a:prstGeom prst="roundRect">
            <a:avLst>
              <a:gd name="adj" fmla="val 14286"/>
            </a:avLst>
          </a:prstGeom>
          <a:solidFill>
            <a:srgbClr val="234D3C"/>
          </a:solidFill>
          <a:ln/>
        </p:spPr>
      </p:sp>
      <p:sp>
        <p:nvSpPr>
          <p:cNvPr id="14" name="Text 12"/>
          <p:cNvSpPr/>
          <p:nvPr/>
        </p:nvSpPr>
        <p:spPr>
          <a:xfrm>
            <a:off x="3063240" y="25511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Experiência: 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251960" y="255117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[Área de atuação e anos de experiência]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926080" y="3255264"/>
            <a:ext cx="5760720" cy="640080"/>
          </a:xfrm>
          <a:prstGeom prst="roundRect">
            <a:avLst>
              <a:gd name="adj" fmla="val 14286"/>
            </a:avLst>
          </a:prstGeom>
          <a:solidFill>
            <a:srgbClr val="234D3C"/>
          </a:solidFill>
          <a:ln/>
        </p:spPr>
      </p:sp>
      <p:sp>
        <p:nvSpPr>
          <p:cNvPr id="17" name="Text 15"/>
          <p:cNvSpPr/>
          <p:nvPr/>
        </p:nvSpPr>
        <p:spPr>
          <a:xfrm>
            <a:off x="3063240" y="330098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Contato: 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251960" y="330098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[E-mail ou canal de comunicação]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Dinâmica de Apresentação da Turma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200400" y="86868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dirty="0">
                <a:solidFill>
                  <a:srgbClr val="000000"/>
                </a:solidFill>
              </a:rPr>
              <a:t>✈️</a:t>
            </a:r>
            <a:endParaRPr lang="en-US" sz="10000" dirty="0"/>
          </a:p>
        </p:txBody>
      </p:sp>
      <p:sp>
        <p:nvSpPr>
          <p:cNvPr id="6" name="Text 4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Avião de Papel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Pegue um papel e escreva: nome, idade, escola e algo sobre você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Dobre o papel em formato de avião de papel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Ao sinal, todos lançam o avião ao mesmo tempo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Quem pegar um avião, lê em voz alta as informações do colega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Ensino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20240" y="1005840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234D3C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1005840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 Compreensão Textual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43800" y="1005840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7543800" y="1005840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709928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4A2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709928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20240" y="1709928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234D3C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1709928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Textual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543800" y="1709928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7543800" y="1709928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414016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414016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920240" y="2414016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234D3C"/>
          </a:solidFill>
          <a:ln/>
        </p:spPr>
      </p:sp>
      <p:sp>
        <p:nvSpPr>
          <p:cNvPr id="20" name="Text 18"/>
          <p:cNvSpPr/>
          <p:nvPr/>
        </p:nvSpPr>
        <p:spPr>
          <a:xfrm>
            <a:off x="2057400" y="2414016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Aplicada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43800" y="2414016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7543800" y="2414016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118104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4A261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118104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920240" y="3118104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234D3C"/>
          </a:solidFill>
          <a:ln/>
        </p:spPr>
      </p:sp>
      <p:sp>
        <p:nvSpPr>
          <p:cNvPr id="26" name="Text 24"/>
          <p:cNvSpPr/>
          <p:nvPr/>
        </p:nvSpPr>
        <p:spPr>
          <a:xfrm>
            <a:off x="2057400" y="3118104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Oral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543800" y="3118104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28" name="Text 26"/>
          <p:cNvSpPr/>
          <p:nvPr/>
        </p:nvSpPr>
        <p:spPr>
          <a:xfrm>
            <a:off x="7543800" y="3118104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65760" y="3822192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4A261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822192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20240" y="3822192"/>
            <a:ext cx="5577840" cy="566928"/>
          </a:xfrm>
          <a:prstGeom prst="roundRect">
            <a:avLst>
              <a:gd name="adj" fmla="val 12903"/>
            </a:avLst>
          </a:prstGeom>
          <a:solidFill>
            <a:srgbClr val="234D3C"/>
          </a:solidFill>
          <a:ln/>
        </p:spPr>
      </p:sp>
      <p:sp>
        <p:nvSpPr>
          <p:cNvPr id="32" name="Text 30"/>
          <p:cNvSpPr/>
          <p:nvPr/>
        </p:nvSpPr>
        <p:spPr>
          <a:xfrm>
            <a:off x="2057400" y="3822192"/>
            <a:ext cx="4663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Autonomia e Estratégias de Estudo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543800" y="3822192"/>
            <a:ext cx="1234440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34" name="Text 32"/>
          <p:cNvSpPr/>
          <p:nvPr/>
        </p:nvSpPr>
        <p:spPr>
          <a:xfrm>
            <a:off x="7543800" y="3822192"/>
            <a:ext cx="123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12h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457700"/>
            <a:ext cx="8412480" cy="2743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44577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63 horas  |  ~31 encontros de 2h  |  Local: LabTEC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Técnicas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234D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731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61872" y="109728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informações de forma clara e coerente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234D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04288"/>
            <a:ext cx="731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📖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61872" y="2304288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autonomia de estudo com estratégias de leitura e escrita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419856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234D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511296"/>
            <a:ext cx="731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261872" y="3511296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pensamento crítico na análise de textos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005840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234D3C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097280"/>
            <a:ext cx="731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🤝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96712" y="1097280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em grupo em leitura, produção textual e debates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2212848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234D3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304288"/>
            <a:ext cx="731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696712" y="2304288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Comunicar-se de forma assertiva, respeitando diferentes opiniões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3419856"/>
            <a:ext cx="4114800" cy="1078992"/>
          </a:xfrm>
          <a:prstGeom prst="roundRect">
            <a:avLst>
              <a:gd name="adj" fmla="val 8475"/>
            </a:avLst>
          </a:prstGeom>
          <a:solidFill>
            <a:srgbClr val="234D3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3511296"/>
            <a:ext cx="7315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96712" y="3511296"/>
            <a:ext cx="30632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Cumprir prazos e entregar atividades conforme orientações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Socioemocionais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67512"/>
          </a:xfrm>
          <a:prstGeom prst="roundRect">
            <a:avLst>
              <a:gd name="adj" fmla="val 13699"/>
            </a:avLst>
          </a:prstGeom>
          <a:solidFill>
            <a:srgbClr val="234D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594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2194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1051560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Assumir compromisso com a própria aprendizagem e com o grupo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8412480" cy="667512"/>
          </a:xfrm>
          <a:prstGeom prst="roundRect">
            <a:avLst>
              <a:gd name="adj" fmla="val 13699"/>
            </a:avLst>
          </a:prstGeom>
          <a:solidFill>
            <a:srgbClr val="234D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10512"/>
            <a:ext cx="594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💪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1810512"/>
            <a:ext cx="2194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810512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Superar dificuldades sem desistir diante de desafios linguísticos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667512"/>
          </a:xfrm>
          <a:prstGeom prst="roundRect">
            <a:avLst>
              <a:gd name="adj" fmla="val 13699"/>
            </a:avLst>
          </a:prstGeom>
          <a:solidFill>
            <a:srgbClr val="234D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69464"/>
            <a:ext cx="594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569464"/>
            <a:ext cx="2194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Colaboração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2569464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Contribuir ativamente em trabalhos em equipe e projetos coletivos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8412480" cy="667512"/>
          </a:xfrm>
          <a:prstGeom prst="roundRect">
            <a:avLst>
              <a:gd name="adj" fmla="val 13699"/>
            </a:avLst>
          </a:prstGeom>
          <a:solidFill>
            <a:srgbClr val="234D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328416"/>
            <a:ext cx="594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🌈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328416"/>
            <a:ext cx="2194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 à Diversidade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3328416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Valorizar diferentes modos de se expressar e comunicar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8412480" cy="667512"/>
          </a:xfrm>
          <a:prstGeom prst="roundRect">
            <a:avLst>
              <a:gd name="adj" fmla="val 13699"/>
            </a:avLst>
          </a:prstGeom>
          <a:solidFill>
            <a:srgbClr val="234D3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87368"/>
            <a:ext cx="59436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4087368"/>
            <a:ext cx="2194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Ativa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37560" y="4087368"/>
            <a:ext cx="5303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 com atenção e interesse os colegas e o professor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 Interpretação Textual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15 horas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234D3C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207008" y="15270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Compreensão Global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07008" y="194767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a mensagem central e os elementos essenciais de um texto.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234D3C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544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596128" y="15270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e Ideia Principal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96128" y="194767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o assunto geral da tese ou ideia central defendida.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234D3C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1089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207008" y="3081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Intenção Comunicativa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07008" y="350215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Reconhecer o propósito do autor: informar, persuadir, narrar, descrever.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4114800" cy="1417320"/>
          </a:xfrm>
          <a:prstGeom prst="roundRect">
            <a:avLst>
              <a:gd name="adj" fmla="val 7742"/>
            </a:avLst>
          </a:prstGeom>
          <a:solidFill>
            <a:srgbClr val="234D3C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10896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5596128" y="30815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Detalhada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96128" y="350215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nuances, inferências e informações explícitas e implícitas.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Textual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12 horas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234D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4173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304288" y="169164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261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468880" y="141732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234D3C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4173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Redigir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407408" y="169164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261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0" y="141732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234D3C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4173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0528" y="1691640"/>
            <a:ext cx="164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A261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675120" y="1417320"/>
            <a:ext cx="1920240" cy="1051560"/>
          </a:xfrm>
          <a:prstGeom prst="roundRect">
            <a:avLst>
              <a:gd name="adj" fmla="val 10435"/>
            </a:avLst>
          </a:prstGeom>
          <a:solidFill>
            <a:srgbClr val="234D3C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1417320"/>
            <a:ext cx="1920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260604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B4332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" y="2606040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15568" y="2660904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Coesão Textual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15568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conectivos, pronomes e referências para encadear ideias.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60604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4864608" y="2606040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504688" y="2660904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Coerência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04688" y="2971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lógica e progressão temática do texto.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B4332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" y="3611880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¶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115568" y="3666744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Paragrafação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15568" y="3977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em parágrafos com unidade temática e progressão.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611880"/>
            <a:ext cx="4114800" cy="868680"/>
          </a:xfrm>
          <a:prstGeom prst="roundRect">
            <a:avLst>
              <a:gd name="adj" fmla="val 10526"/>
            </a:avLst>
          </a:prstGeom>
          <a:solidFill>
            <a:srgbClr val="1B4332"/>
          </a:solidFill>
          <a:ln/>
        </p:spPr>
      </p:sp>
      <p:sp>
        <p:nvSpPr>
          <p:cNvPr id="30" name="Text 28"/>
          <p:cNvSpPr/>
          <p:nvPr/>
        </p:nvSpPr>
        <p:spPr>
          <a:xfrm>
            <a:off x="4864608" y="3611880"/>
            <a:ext cx="594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504688" y="3666744"/>
            <a:ext cx="3246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de Ideias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04688" y="3977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Introdução, desenvolvimento e conclusão bem estruturados.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Gramática Aplicada e Oralidade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69080" cy="3611880"/>
          </a:xfrm>
          <a:prstGeom prst="roundRect">
            <a:avLst>
              <a:gd name="adj" fmla="val 3038"/>
            </a:avLst>
          </a:prstGeom>
          <a:solidFill>
            <a:srgbClr val="234D3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Gramática — Módulo 3 · 12h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53619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Pontuação e seu papel comunicativo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Vírgula, ponto, ponto e vírgula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Concordância verbal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Concordância nominal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Regência verbal básica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Ortografia e acentuação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4069080" cy="3611880"/>
          </a:xfrm>
          <a:prstGeom prst="roundRect">
            <a:avLst>
              <a:gd name="adj" fmla="val 3038"/>
            </a:avLst>
          </a:prstGeom>
          <a:solidFill>
            <a:srgbClr val="234D3C"/>
          </a:solidFill>
          <a:ln/>
        </p:spPr>
      </p:sp>
      <p:sp>
        <p:nvSpPr>
          <p:cNvPr id="9" name="Text 7"/>
          <p:cNvSpPr/>
          <p:nvPr/>
        </p:nvSpPr>
        <p:spPr>
          <a:xfrm>
            <a:off x="4892040" y="107899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Comunicação Oral — Módulo 4 · 12h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536192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Técnicas de debate e argumentação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Apresentação oral com clareza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Postura, voz e contato visual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Escuta ativa e respeito ao turno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Linguagem formal e informal</a:t>
            </a:r>
            <a:endParaRPr lang="en-US" sz="1250" dirty="0"/>
          </a:p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Seminário e exposição de ideias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Nossos Combinados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234D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📵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0972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Guardado durante as aulas, salvo quando autorizado para pesquisa.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234D3C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0584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715000" y="109728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Pontualidade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15000" y="146304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 no horário é respeitar a si mesmo e aos colegas.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24028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234D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24028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280160" y="23317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Respeito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6974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Ouvir o outro sem interromper, valorizar todas as opiniões.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800600" y="224028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234D3C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224028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15000" y="23317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15000" y="26974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Engajar-se nas atividades, fazer perguntas, colaborar.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65760" y="347472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234D3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47472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📝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1280160" y="35661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80160" y="39319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atividades dentro do prazo combinado.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00600" y="3474720"/>
            <a:ext cx="4114800" cy="1097280"/>
          </a:xfrm>
          <a:prstGeom prst="roundRect">
            <a:avLst>
              <a:gd name="adj" fmla="val 10000"/>
            </a:avLst>
          </a:prstGeom>
          <a:solidFill>
            <a:srgbClr val="234D3C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474720"/>
            <a:ext cx="777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715000" y="356616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Cooperação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715000" y="393192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Ajudar os colegas e aprender junto — a turma é uma equipe.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Avaliação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234D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8229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✏️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25880" y="11430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Atividades Práticas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25880" y="1554480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de leitura, escrita e oralidade realizados durante os módulos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1289304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0" y="128930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65760" y="2313432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234D3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13432"/>
            <a:ext cx="8229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🏆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25880" y="24048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Final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816352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de opinião sobre tecnologia e mercado de trabalho + apresentação oral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132320" y="2551176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32320" y="255117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65760" y="3575304"/>
            <a:ext cx="8412480" cy="1115568"/>
          </a:xfrm>
          <a:prstGeom prst="roundRect">
            <a:avLst>
              <a:gd name="adj" fmla="val 9836"/>
            </a:avLst>
          </a:prstGeom>
          <a:solidFill>
            <a:srgbClr val="234D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575304"/>
            <a:ext cx="8229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🙌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25880" y="36667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25880" y="4078224"/>
            <a:ext cx="4754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Engajamento, colaboração, respeito e frequência nas aulas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0" y="3813048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F4A261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381304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760" y="44851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para aprovação: ≥ 6,0 pontos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Comportamento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667512"/>
          </a:xfrm>
          <a:prstGeom prst="roundRect">
            <a:avLst>
              <a:gd name="adj" fmla="val 13699"/>
            </a:avLst>
          </a:prstGeom>
          <a:solidFill>
            <a:srgbClr val="234D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594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05840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03320" y="1005840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Cumprir tarefas, prazos e compromissos assumidos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64792"/>
            <a:ext cx="8412480" cy="667512"/>
          </a:xfrm>
          <a:prstGeom prst="roundRect">
            <a:avLst>
              <a:gd name="adj" fmla="val 13699"/>
            </a:avLst>
          </a:prstGeom>
          <a:solidFill>
            <a:srgbClr val="234D3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764792"/>
            <a:ext cx="594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97280" y="1764792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em Equipe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03320" y="1764792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Colaborar, respeitar e contribuir com o grupo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523744"/>
            <a:ext cx="8412480" cy="667512"/>
          </a:xfrm>
          <a:prstGeom prst="roundRect">
            <a:avLst>
              <a:gd name="adj" fmla="val 13699"/>
            </a:avLst>
          </a:prstGeom>
          <a:solidFill>
            <a:srgbClr val="234D3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23744"/>
            <a:ext cx="594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👂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97280" y="2523744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em Aula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03320" y="2523744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Atenção, participação e respeito ao professor e colegas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82696"/>
            <a:ext cx="8412480" cy="667512"/>
          </a:xfrm>
          <a:prstGeom prst="roundRect">
            <a:avLst>
              <a:gd name="adj" fmla="val 13699"/>
            </a:avLst>
          </a:prstGeom>
          <a:solidFill>
            <a:srgbClr val="234D3C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82696"/>
            <a:ext cx="594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3282696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3282696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Expressar-se com clareza, respeito e assertividade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041648"/>
            <a:ext cx="8412480" cy="667512"/>
          </a:xfrm>
          <a:prstGeom prst="roundRect">
            <a:avLst>
              <a:gd name="adj" fmla="val 13699"/>
            </a:avLst>
          </a:prstGeom>
          <a:solidFill>
            <a:srgbClr val="234D3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041648"/>
            <a:ext cx="59436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97280" y="4041648"/>
            <a:ext cx="25603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Autoavaliação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03320" y="4041648"/>
            <a:ext cx="493776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Refletir sobre o próprio desenvolvimento e propor melhorias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4851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avaliação de comportamento compõe 25% da nota final (Participação).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Aprendizagem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96012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813816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A1F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Projeto: "Tecnologia e Mercado de Trabalho"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05840" y="2011680"/>
            <a:ext cx="7772400" cy="640080"/>
          </a:xfrm>
          <a:prstGeom prst="roundRect">
            <a:avLst>
              <a:gd name="adj" fmla="val 14286"/>
            </a:avLst>
          </a:prstGeom>
          <a:solidFill>
            <a:srgbClr val="234D3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0116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Pesquisar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01168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Investigar como a tecnologia transforma o mercado de trabalho atual.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61488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2761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05840" y="2715768"/>
            <a:ext cx="7772400" cy="640080"/>
          </a:xfrm>
          <a:prstGeom prst="roundRect">
            <a:avLst>
              <a:gd name="adj" fmla="val 14286"/>
            </a:avLst>
          </a:prstGeom>
          <a:solidFill>
            <a:srgbClr val="234D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7157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Produzir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71576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Redigir um texto de opinião argumentativo, com posição clara e fundamentada.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465576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4655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05840" y="3419856"/>
            <a:ext cx="7772400" cy="640080"/>
          </a:xfrm>
          <a:prstGeom prst="roundRect">
            <a:avLst>
              <a:gd name="adj" fmla="val 14286"/>
            </a:avLst>
          </a:prstGeom>
          <a:solidFill>
            <a:srgbClr val="234D3C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41985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Revisar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926080" y="3419856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conhecimentos de gramática, coesão e coerência ao texto.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69664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169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05840" y="4123944"/>
            <a:ext cx="7772400" cy="640080"/>
          </a:xfrm>
          <a:prstGeom prst="roundRect">
            <a:avLst>
              <a:gd name="adj" fmla="val 14286"/>
            </a:avLst>
          </a:prstGeom>
          <a:solidFill>
            <a:srgbClr val="234D3C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41239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🎤 Apresentar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26080" y="4123944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FF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 o texto oralmente para a turma, praticando a comunicação.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0" y="4796028"/>
            <a:ext cx="9144000" cy="320040"/>
          </a:xfrm>
          <a:prstGeom prst="rect">
            <a:avLst/>
          </a:prstGeom>
          <a:solidFill>
            <a:srgbClr val="0A1F1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D5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do Sul Mais Tech — SENAI | Prefeitura Municipal de Rio do Sul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2026-08-19T17:25:59Z</dcterms:created>
  <dcterms:modified xsi:type="dcterms:W3CDTF">2026-08-19T17:25:59Z</dcterms:modified>
</cp:coreProperties>
</file>